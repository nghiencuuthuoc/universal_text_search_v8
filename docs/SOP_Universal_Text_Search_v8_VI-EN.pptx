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 Id="rId6" Type="http://schemas.openxmlformats.org/officeDocument/2006/relationships/hyperlink" Target="https://www.nghiencuuthuoc.com/p/donate.html" TargetMode="External"/><Relationship Id="rId7" Type="http://schemas.openxmlformats.org/officeDocument/2006/relationships/hyperlink" Target="https://www.pharmapp.dev/Donat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nghiencuuthuoc.com" TargetMode="External"/><Relationship Id="rId4" Type="http://schemas.openxmlformats.org/officeDocument/2006/relationships/hyperlink" Target="https://zalo.me/84888999311" TargetMode="External"/><Relationship Id="rId5" Type="http://schemas.openxmlformats.org/officeDocument/2006/relationships/hyperlink" Target="https://www.pharmapp.dev"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4023360" cy="68580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23360" y="0"/>
            <a:ext cx="73152" cy="685800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360.png"/>
          <p:cNvPicPr>
            <a:picLocks noChangeAspect="1"/>
          </p:cNvPicPr>
          <p:nvPr/>
        </p:nvPicPr>
        <p:blipFill>
          <a:blip r:embed="rId2"/>
          <a:stretch>
            <a:fillRect/>
          </a:stretch>
        </p:blipFill>
        <p:spPr>
          <a:xfrm>
            <a:off x="640080" y="1828800"/>
            <a:ext cx="2743200" cy="2743200"/>
          </a:xfrm>
          <a:prstGeom prst="rect">
            <a:avLst/>
          </a:prstGeom>
        </p:spPr>
      </p:pic>
      <p:sp>
        <p:nvSpPr>
          <p:cNvPr id="5" name="TextBox 4"/>
          <p:cNvSpPr txBox="1"/>
          <p:nvPr/>
        </p:nvSpPr>
        <p:spPr>
          <a:xfrm>
            <a:off x="4572000" y="1371600"/>
            <a:ext cx="7223760" cy="1463040"/>
          </a:xfrm>
          <a:prstGeom prst="rect">
            <a:avLst/>
          </a:prstGeom>
          <a:noFill/>
        </p:spPr>
        <p:txBody>
          <a:bodyPr wrap="square" anchor="t" lIns="73152" rIns="73152" tIns="27432" bIns="27432">
            <a:spAutoFit/>
          </a:bodyPr>
          <a:lstStyle/>
          <a:p>
            <a:r>
              <a:rPr sz="3200" b="1" i="0">
                <a:solidFill>
                  <a:srgbClr val="174349"/>
                </a:solidFill>
                <a:latin typeface="Calibri"/>
              </a:rPr>
              <a:t>Quy trình hướng dẫn sử dụng Universal Text Search v8</a:t>
            </a:r>
          </a:p>
        </p:txBody>
      </p:sp>
      <p:sp>
        <p:nvSpPr>
          <p:cNvPr id="6" name="TextBox 5"/>
          <p:cNvSpPr txBox="1"/>
          <p:nvPr/>
        </p:nvSpPr>
        <p:spPr>
          <a:xfrm>
            <a:off x="4572000" y="2834640"/>
            <a:ext cx="7223760" cy="914400"/>
          </a:xfrm>
          <a:prstGeom prst="rect">
            <a:avLst/>
          </a:prstGeom>
          <a:noFill/>
        </p:spPr>
        <p:txBody>
          <a:bodyPr wrap="square" anchor="t" lIns="73152" rIns="73152" tIns="27432" bIns="27432">
            <a:spAutoFit/>
          </a:bodyPr>
          <a:lstStyle/>
          <a:p>
            <a:r>
              <a:rPr sz="2000" b="0" i="1">
                <a:solidFill>
                  <a:srgbClr val="C8791E"/>
                </a:solidFill>
                <a:latin typeface="Calibri"/>
              </a:rPr>
              <a:t>Standard Operating Procedure: Using Universal Text Search v8</a:t>
            </a:r>
          </a:p>
        </p:txBody>
      </p:sp>
      <p:sp>
        <p:nvSpPr>
          <p:cNvPr id="7" name="TextBox 6"/>
          <p:cNvSpPr txBox="1"/>
          <p:nvPr/>
        </p:nvSpPr>
        <p:spPr>
          <a:xfrm>
            <a:off x="4572000" y="3840480"/>
            <a:ext cx="7223760" cy="822960"/>
          </a:xfrm>
          <a:prstGeom prst="rect">
            <a:avLst/>
          </a:prstGeom>
          <a:noFill/>
        </p:spPr>
        <p:txBody>
          <a:bodyPr wrap="square" anchor="t" lIns="73152" rIns="73152" tIns="27432" bIns="27432">
            <a:spAutoFit/>
          </a:bodyPr>
          <a:lstStyle/>
          <a:p>
            <a:r>
              <a:rPr sz="1400" b="0" i="0">
                <a:solidFill>
                  <a:srgbClr val="2A2A2A"/>
                </a:solidFill>
                <a:latin typeface="Calibri"/>
              </a:rPr>
              <a:t>Tìm nội dung bên trong Excel, Word, PDF, HTML và văn bản thuần</a:t>
            </a:r>
          </a:p>
          <a:p>
            <a:r>
              <a:rPr sz="1300" b="0" i="1">
                <a:solidFill>
                  <a:srgbClr val="6E6256"/>
                </a:solidFill>
                <a:latin typeface="Calibri"/>
              </a:rPr>
              <a:t>Search inside Excel, Word, PDF, HTML and plain-text files</a:t>
            </a:r>
          </a:p>
        </p:txBody>
      </p:sp>
      <p:sp>
        <p:nvSpPr>
          <p:cNvPr id="8" name="TextBox 7"/>
          <p:cNvSpPr txBox="1"/>
          <p:nvPr/>
        </p:nvSpPr>
        <p:spPr>
          <a:xfrm>
            <a:off x="4572000" y="4846320"/>
            <a:ext cx="7223760" cy="822960"/>
          </a:xfrm>
          <a:prstGeom prst="rect">
            <a:avLst/>
          </a:prstGeom>
          <a:noFill/>
        </p:spPr>
        <p:txBody>
          <a:bodyPr wrap="square" anchor="t" lIns="73152" rIns="73152" tIns="27432" bIns="27432">
            <a:spAutoFit/>
          </a:bodyPr>
          <a:lstStyle/>
          <a:p>
            <a:r>
              <a:rPr sz="1300" b="1" i="0">
                <a:solidFill>
                  <a:srgbClr val="174349"/>
                </a:solidFill>
                <a:latin typeface="Calibri"/>
              </a:rPr>
              <a:t>SOP-UTS-001  •  v8.0  •  2026-10-15</a:t>
            </a:r>
          </a:p>
          <a:p>
            <a:r>
              <a:rPr sz="1100" b="0" i="1">
                <a:solidFill>
                  <a:srgbClr val="6E6256"/>
                </a:solidFill>
                <a:latin typeface="Calibri"/>
              </a:rPr>
              <a:t>Người dùng cuối (Windows 10/11) / End users (Windows 10/11)</a:t>
            </a:r>
          </a:p>
        </p:txBody>
      </p:sp>
      <p:sp>
        <p:nvSpPr>
          <p:cNvPr id="9" name="Rectangle 8"/>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11" name="TextBox 10"/>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Nội dung</a:t>
            </a:r>
          </a:p>
          <a:p>
            <a:r>
              <a:rPr sz="1400" b="0" i="1">
                <a:solidFill>
                  <a:srgbClr val="F2C57B"/>
                </a:solidFill>
                <a:latin typeface="Calibri"/>
              </a:rPr>
              <a:t>Contents</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2</a:t>
            </a:r>
          </a:p>
        </p:txBody>
      </p:sp>
      <p:sp>
        <p:nvSpPr>
          <p:cNvPr id="9" name="TextBox 8"/>
          <p:cNvSpPr txBox="1"/>
          <p:nvPr/>
        </p:nvSpPr>
        <p:spPr>
          <a:xfrm>
            <a:off x="548640" y="1280160"/>
            <a:ext cx="5364327" cy="4937760"/>
          </a:xfrm>
          <a:prstGeom prst="rect">
            <a:avLst/>
          </a:prstGeom>
          <a:noFill/>
        </p:spPr>
        <p:txBody>
          <a:bodyPr wrap="square" anchor="t" lIns="73152" rIns="73152" tIns="27432" bIns="27432">
            <a:spAutoFit/>
          </a:bodyPr>
          <a:lstStyle/>
          <a:p>
            <a:r>
              <a:rPr sz="1500" b="1" i="0">
                <a:solidFill>
                  <a:srgbClr val="174349"/>
                </a:solidFill>
                <a:latin typeface="Calibri"/>
              </a:rPr>
              <a:t>1. Mục đích</a:t>
            </a:r>
          </a:p>
          <a:p>
            <a:r>
              <a:rPr sz="1150" b="0" i="1">
                <a:solidFill>
                  <a:srgbClr val="6E6256"/>
                </a:solidFill>
                <a:latin typeface="Calibri"/>
              </a:rPr>
              <a:t>Purpose</a:t>
            </a:r>
          </a:p>
          <a:p>
            <a:r>
              <a:rPr sz="1500" b="1" i="0">
                <a:solidFill>
                  <a:srgbClr val="174349"/>
                </a:solidFill>
                <a:latin typeface="Calibri"/>
              </a:rPr>
              <a:t>2. Phạm vi áp dụng</a:t>
            </a:r>
          </a:p>
          <a:p>
            <a:r>
              <a:rPr sz="1150" b="0" i="1">
                <a:solidFill>
                  <a:srgbClr val="6E6256"/>
                </a:solidFill>
                <a:latin typeface="Calibri"/>
              </a:rPr>
              <a:t>Scope</a:t>
            </a:r>
          </a:p>
          <a:p>
            <a:r>
              <a:rPr sz="1500" b="1" i="0">
                <a:solidFill>
                  <a:srgbClr val="174349"/>
                </a:solidFill>
                <a:latin typeface="Calibri"/>
              </a:rPr>
              <a:t>3. Thuật ngữ</a:t>
            </a:r>
          </a:p>
          <a:p>
            <a:r>
              <a:rPr sz="1150" b="0" i="1">
                <a:solidFill>
                  <a:srgbClr val="6E6256"/>
                </a:solidFill>
                <a:latin typeface="Calibri"/>
              </a:rPr>
              <a:t>Definitions</a:t>
            </a:r>
          </a:p>
          <a:p>
            <a:r>
              <a:rPr sz="1500" b="1" i="0">
                <a:solidFill>
                  <a:srgbClr val="174349"/>
                </a:solidFill>
                <a:latin typeface="Calibri"/>
              </a:rPr>
              <a:t>4. Yêu cầu hệ thống</a:t>
            </a:r>
          </a:p>
          <a:p>
            <a:r>
              <a:rPr sz="1150" b="0" i="1">
                <a:solidFill>
                  <a:srgbClr val="6E6256"/>
                </a:solidFill>
                <a:latin typeface="Calibri"/>
              </a:rPr>
              <a:t>Requirements</a:t>
            </a:r>
          </a:p>
          <a:p>
            <a:r>
              <a:rPr sz="1500" b="1" i="0">
                <a:solidFill>
                  <a:srgbClr val="174349"/>
                </a:solidFill>
                <a:latin typeface="Calibri"/>
              </a:rPr>
              <a:t>5. Giao diện chính</a:t>
            </a:r>
          </a:p>
          <a:p>
            <a:r>
              <a:rPr sz="1150" b="0" i="1">
                <a:solidFill>
                  <a:srgbClr val="6E6256"/>
                </a:solidFill>
                <a:latin typeface="Calibri"/>
              </a:rPr>
              <a:t>Main window</a:t>
            </a:r>
          </a:p>
          <a:p>
            <a:r>
              <a:rPr sz="1500" b="1" i="0">
                <a:solidFill>
                  <a:srgbClr val="174349"/>
                </a:solidFill>
                <a:latin typeface="Calibri"/>
              </a:rPr>
              <a:t>6. Quy trình thực hiện</a:t>
            </a:r>
          </a:p>
          <a:p>
            <a:r>
              <a:rPr sz="1150" b="0" i="1">
                <a:solidFill>
                  <a:srgbClr val="6E6256"/>
                </a:solidFill>
                <a:latin typeface="Calibri"/>
              </a:rPr>
              <a:t>Procedure</a:t>
            </a:r>
          </a:p>
        </p:txBody>
      </p:sp>
      <p:sp>
        <p:nvSpPr>
          <p:cNvPr id="10" name="TextBox 9"/>
          <p:cNvSpPr txBox="1"/>
          <p:nvPr/>
        </p:nvSpPr>
        <p:spPr>
          <a:xfrm>
            <a:off x="6095847" y="1280160"/>
            <a:ext cx="5364327" cy="4937760"/>
          </a:xfrm>
          <a:prstGeom prst="rect">
            <a:avLst/>
          </a:prstGeom>
          <a:noFill/>
        </p:spPr>
        <p:txBody>
          <a:bodyPr wrap="square" anchor="t" lIns="73152" rIns="73152" tIns="27432" bIns="27432">
            <a:spAutoFit/>
          </a:bodyPr>
          <a:lstStyle/>
          <a:p>
            <a:r>
              <a:rPr sz="1500" b="1" i="0">
                <a:solidFill>
                  <a:srgbClr val="174349"/>
                </a:solidFill>
                <a:latin typeface="Calibri"/>
              </a:rPr>
              <a:t>7. Định dạng tệp được hỗ trợ</a:t>
            </a:r>
          </a:p>
          <a:p>
            <a:r>
              <a:rPr sz="1150" b="0" i="1">
                <a:solidFill>
                  <a:srgbClr val="6E6256"/>
                </a:solidFill>
                <a:latin typeface="Calibri"/>
              </a:rPr>
              <a:t>Supported file types</a:t>
            </a:r>
          </a:p>
          <a:p>
            <a:r>
              <a:rPr sz="1500" b="1" i="0">
                <a:solidFill>
                  <a:srgbClr val="174349"/>
                </a:solidFill>
                <a:latin typeface="Calibri"/>
              </a:rPr>
              <a:t>8. Phím tắt</a:t>
            </a:r>
          </a:p>
          <a:p>
            <a:r>
              <a:rPr sz="1150" b="0" i="1">
                <a:solidFill>
                  <a:srgbClr val="6E6256"/>
                </a:solidFill>
                <a:latin typeface="Calibri"/>
              </a:rPr>
              <a:t>Keyboard shortcuts</a:t>
            </a:r>
          </a:p>
          <a:p>
            <a:r>
              <a:rPr sz="1500" b="1" i="0">
                <a:solidFill>
                  <a:srgbClr val="174349"/>
                </a:solidFill>
                <a:latin typeface="Calibri"/>
              </a:rPr>
              <a:t>9. Dữ liệu và quyền riêng tư</a:t>
            </a:r>
          </a:p>
          <a:p>
            <a:r>
              <a:rPr sz="1150" b="0" i="1">
                <a:solidFill>
                  <a:srgbClr val="6E6256"/>
                </a:solidFill>
                <a:latin typeface="Calibri"/>
              </a:rPr>
              <a:t>Data and privacy</a:t>
            </a:r>
          </a:p>
          <a:p>
            <a:r>
              <a:rPr sz="1500" b="1" i="0">
                <a:solidFill>
                  <a:srgbClr val="174349"/>
                </a:solidFill>
                <a:latin typeface="Calibri"/>
              </a:rPr>
              <a:t>10. Xử lý sự cố</a:t>
            </a:r>
          </a:p>
          <a:p>
            <a:r>
              <a:rPr sz="1150" b="0" i="1">
                <a:solidFill>
                  <a:srgbClr val="6E6256"/>
                </a:solidFill>
                <a:latin typeface="Calibri"/>
              </a:rPr>
              <a:t>Troubleshooting</a:t>
            </a:r>
          </a:p>
          <a:p>
            <a:r>
              <a:rPr sz="1500" b="1" i="0">
                <a:solidFill>
                  <a:srgbClr val="174349"/>
                </a:solidFill>
                <a:latin typeface="Calibri"/>
              </a:rPr>
              <a:t>11. Hỗ trợ</a:t>
            </a:r>
          </a:p>
          <a:p>
            <a:r>
              <a:rPr sz="1150" b="0" i="1">
                <a:solidFill>
                  <a:srgbClr val="6E6256"/>
                </a:solidFill>
                <a:latin typeface="Calibri"/>
              </a:rPr>
              <a:t>Support</a:t>
            </a:r>
          </a:p>
          <a:p>
            <a:r>
              <a:rPr sz="1500" b="1" i="0">
                <a:solidFill>
                  <a:srgbClr val="174349"/>
                </a:solidFill>
                <a:latin typeface="Calibri"/>
              </a:rPr>
              <a:t>12. Lịch sử sửa đổi</a:t>
            </a:r>
          </a:p>
          <a:p>
            <a:r>
              <a:rPr sz="1150" b="0" i="1">
                <a:solidFill>
                  <a:srgbClr val="6E6256"/>
                </a:solidFill>
                <a:latin typeface="Calibri"/>
              </a:rPr>
              <a:t>Revision history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1. Mục đích</a:t>
            </a:r>
          </a:p>
          <a:p>
            <a:r>
              <a:rPr sz="1400" b="0" i="1">
                <a:solidFill>
                  <a:srgbClr val="F2C57B"/>
                </a:solidFill>
                <a:latin typeface="Calibri"/>
              </a:rPr>
              <a:t>Purpose</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3</a:t>
            </a:r>
          </a:p>
        </p:txBody>
      </p:sp>
      <p:sp>
        <p:nvSpPr>
          <p:cNvPr id="9" name="TextBox 8"/>
          <p:cNvSpPr txBox="1"/>
          <p:nvPr/>
        </p:nvSpPr>
        <p:spPr>
          <a:xfrm>
            <a:off x="548640" y="1188720"/>
            <a:ext cx="5432907" cy="1199896"/>
          </a:xfrm>
          <a:prstGeom prst="rect">
            <a:avLst/>
          </a:prstGeom>
          <a:noFill/>
        </p:spPr>
        <p:txBody>
          <a:bodyPr wrap="square" anchor="t" lIns="73152" rIns="73152" tIns="27432" bIns="27432">
            <a:spAutoFit/>
          </a:bodyPr>
          <a:lstStyle/>
          <a:p>
            <a:r>
              <a:rPr sz="1700" b="0" i="0">
                <a:solidFill>
                  <a:srgbClr val="2A2A2A"/>
                </a:solidFill>
                <a:latin typeface="Calibri"/>
              </a:rPr>
              <a:t>Hướng dẫn người dùng cuối tìm nhanh nội dung chữ bên trong tài liệu (Excel, Word, PDF, HTML, văn bản thuần…) bằng Universal Text Search v8, không cần mở từng tệp.</a:t>
            </a:r>
          </a:p>
        </p:txBody>
      </p:sp>
      <p:sp>
        <p:nvSpPr>
          <p:cNvPr id="10" name="TextBox 9"/>
          <p:cNvSpPr txBox="1"/>
          <p:nvPr/>
        </p:nvSpPr>
        <p:spPr>
          <a:xfrm>
            <a:off x="6210147" y="1188720"/>
            <a:ext cx="5432907" cy="1199896"/>
          </a:xfrm>
          <a:prstGeom prst="rect">
            <a:avLst/>
          </a:prstGeom>
          <a:noFill/>
        </p:spPr>
        <p:txBody>
          <a:bodyPr wrap="square" anchor="t" lIns="73152" rIns="73152" tIns="27432" bIns="27432">
            <a:spAutoFit/>
          </a:bodyPr>
          <a:lstStyle/>
          <a:p>
            <a:r>
              <a:rPr sz="1550" b="0" i="1">
                <a:solidFill>
                  <a:srgbClr val="6E6256"/>
                </a:solidFill>
                <a:latin typeface="Calibri"/>
              </a:rPr>
              <a:t>Guide end users to quickly find text inside documents (Excel, Word, PDF, HTML, plain text…) with Universal Text Search v8, without opening each file.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2. Phạm vi áp dụng</a:t>
            </a:r>
          </a:p>
          <a:p>
            <a:r>
              <a:rPr sz="1400" b="0" i="1">
                <a:solidFill>
                  <a:srgbClr val="F2C57B"/>
                </a:solidFill>
                <a:latin typeface="Calibri"/>
              </a:rPr>
              <a:t>Scope</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4</a:t>
            </a:r>
          </a:p>
        </p:txBody>
      </p:sp>
      <p:sp>
        <p:nvSpPr>
          <p:cNvPr id="9" name="TextBox 8"/>
          <p:cNvSpPr txBox="1"/>
          <p:nvPr/>
        </p:nvSpPr>
        <p:spPr>
          <a:xfrm>
            <a:off x="548640" y="1188720"/>
            <a:ext cx="5432907" cy="626618"/>
          </a:xfrm>
          <a:prstGeom prst="rect">
            <a:avLst/>
          </a:prstGeom>
          <a:noFill/>
        </p:spPr>
        <p:txBody>
          <a:bodyPr wrap="square" anchor="t" lIns="73152" rIns="73152" tIns="27432" bIns="27432">
            <a:spAutoFit/>
          </a:bodyPr>
          <a:lstStyle/>
          <a:p>
            <a:r>
              <a:rPr sz="1550" b="0" i="0">
                <a:solidFill>
                  <a:srgbClr val="2A2A2A"/>
                </a:solidFill>
                <a:latin typeface="Calibri"/>
              </a:rPr>
              <a:t>• Áp dụng cho mọi người dùng Windows 10/11 sử dụng tệp Universal_Text_Search_v8.exe.</a:t>
            </a:r>
          </a:p>
        </p:txBody>
      </p:sp>
      <p:sp>
        <p:nvSpPr>
          <p:cNvPr id="10" name="TextBox 9"/>
          <p:cNvSpPr txBox="1"/>
          <p:nvPr/>
        </p:nvSpPr>
        <p:spPr>
          <a:xfrm>
            <a:off x="6210147" y="1188720"/>
            <a:ext cx="5432907" cy="626618"/>
          </a:xfrm>
          <a:prstGeom prst="rect">
            <a:avLst/>
          </a:prstGeom>
          <a:noFill/>
        </p:spPr>
        <p:txBody>
          <a:bodyPr wrap="square" anchor="t" lIns="73152" rIns="73152" tIns="27432" bIns="27432">
            <a:spAutoFit/>
          </a:bodyPr>
          <a:lstStyle/>
          <a:p>
            <a:r>
              <a:rPr sz="1400" b="0" i="1">
                <a:solidFill>
                  <a:srgbClr val="6E6256"/>
                </a:solidFill>
                <a:latin typeface="Calibri"/>
              </a:rPr>
              <a:t>• Applies to all Windows 10/11 users running Universal_Text_Search_v8.exe.</a:t>
            </a:r>
          </a:p>
        </p:txBody>
      </p:sp>
      <p:sp>
        <p:nvSpPr>
          <p:cNvPr id="11" name="TextBox 10"/>
          <p:cNvSpPr txBox="1"/>
          <p:nvPr/>
        </p:nvSpPr>
        <p:spPr>
          <a:xfrm>
            <a:off x="548640" y="1870202"/>
            <a:ext cx="5432907" cy="386460"/>
          </a:xfrm>
          <a:prstGeom prst="rect">
            <a:avLst/>
          </a:prstGeom>
          <a:noFill/>
        </p:spPr>
        <p:txBody>
          <a:bodyPr wrap="square" anchor="t" lIns="73152" rIns="73152" tIns="27432" bIns="27432">
            <a:spAutoFit/>
          </a:bodyPr>
          <a:lstStyle/>
          <a:p>
            <a:r>
              <a:rPr sz="1550" b="0" i="0">
                <a:solidFill>
                  <a:srgbClr val="2A2A2A"/>
                </a:solidFill>
                <a:latin typeface="Calibri"/>
              </a:rPr>
              <a:t>• Tìm trong thư mục trên ổ cục bộ và ổ mạng.</a:t>
            </a:r>
          </a:p>
        </p:txBody>
      </p:sp>
      <p:sp>
        <p:nvSpPr>
          <p:cNvPr id="12" name="TextBox 11"/>
          <p:cNvSpPr txBox="1"/>
          <p:nvPr/>
        </p:nvSpPr>
        <p:spPr>
          <a:xfrm>
            <a:off x="6210147" y="1870202"/>
            <a:ext cx="5432907" cy="386460"/>
          </a:xfrm>
          <a:prstGeom prst="rect">
            <a:avLst/>
          </a:prstGeom>
          <a:noFill/>
        </p:spPr>
        <p:txBody>
          <a:bodyPr wrap="square" anchor="t" lIns="73152" rIns="73152" tIns="27432" bIns="27432">
            <a:spAutoFit/>
          </a:bodyPr>
          <a:lstStyle/>
          <a:p>
            <a:r>
              <a:rPr sz="1400" b="0" i="1">
                <a:solidFill>
                  <a:srgbClr val="6E6256"/>
                </a:solidFill>
                <a:latin typeface="Calibri"/>
              </a:rPr>
              <a:t>• Searches folders on local and network drives.</a:t>
            </a:r>
          </a:p>
        </p:txBody>
      </p:sp>
      <p:sp>
        <p:nvSpPr>
          <p:cNvPr id="13" name="TextBox 12"/>
          <p:cNvSpPr txBox="1"/>
          <p:nvPr/>
        </p:nvSpPr>
        <p:spPr>
          <a:xfrm>
            <a:off x="548640" y="2311527"/>
            <a:ext cx="5432907" cy="626618"/>
          </a:xfrm>
          <a:prstGeom prst="rect">
            <a:avLst/>
          </a:prstGeom>
          <a:noFill/>
        </p:spPr>
        <p:txBody>
          <a:bodyPr wrap="square" anchor="t" lIns="73152" rIns="73152" tIns="27432" bIns="27432">
            <a:spAutoFit/>
          </a:bodyPr>
          <a:lstStyle/>
          <a:p>
            <a:r>
              <a:rPr sz="1550" b="0" i="0">
                <a:solidFill>
                  <a:srgbClr val="2A2A2A"/>
                </a:solidFill>
                <a:latin typeface="Calibri"/>
              </a:rPr>
              <a:t>• Phần mềm chỉ đọc tệp: không sửa, không xoá, không gửi dữ liệu ra ngoài.</a:t>
            </a:r>
          </a:p>
        </p:txBody>
      </p:sp>
      <p:sp>
        <p:nvSpPr>
          <p:cNvPr id="14" name="TextBox 13"/>
          <p:cNvSpPr txBox="1"/>
          <p:nvPr/>
        </p:nvSpPr>
        <p:spPr>
          <a:xfrm>
            <a:off x="6210147" y="2311527"/>
            <a:ext cx="5432907" cy="626618"/>
          </a:xfrm>
          <a:prstGeom prst="rect">
            <a:avLst/>
          </a:prstGeom>
          <a:noFill/>
        </p:spPr>
        <p:txBody>
          <a:bodyPr wrap="square" anchor="t" lIns="73152" rIns="73152" tIns="27432" bIns="27432">
            <a:spAutoFit/>
          </a:bodyPr>
          <a:lstStyle/>
          <a:p>
            <a:r>
              <a:rPr sz="1400" b="0" i="1">
                <a:solidFill>
                  <a:srgbClr val="6E6256"/>
                </a:solidFill>
                <a:latin typeface="Calibri"/>
              </a:rPr>
              <a:t>• The software only reads files: it never edits, deletes or uploads them.</a:t>
            </a:r>
          </a:p>
        </p:txBody>
      </p:sp>
      <p:sp>
        <p:nvSpPr>
          <p:cNvPr id="15" name="TextBox 14"/>
          <p:cNvSpPr txBox="1"/>
          <p:nvPr/>
        </p:nvSpPr>
        <p:spPr>
          <a:xfrm>
            <a:off x="548640" y="2993008"/>
            <a:ext cx="5432907" cy="626618"/>
          </a:xfrm>
          <a:prstGeom prst="rect">
            <a:avLst/>
          </a:prstGeom>
          <a:noFill/>
        </p:spPr>
        <p:txBody>
          <a:bodyPr wrap="square" anchor="t" lIns="73152" rIns="73152" tIns="27432" bIns="27432">
            <a:spAutoFit/>
          </a:bodyPr>
          <a:lstStyle/>
          <a:p>
            <a:r>
              <a:rPr sz="1550" b="0" i="0">
                <a:solidFill>
                  <a:srgbClr val="2A2A2A"/>
                </a:solidFill>
                <a:latin typeface="Calibri"/>
              </a:rPr>
              <a:t>• Không áp dụng cho PDF dạng ảnh quét (không có OCR) và tệp PowerPoint.</a:t>
            </a:r>
          </a:p>
        </p:txBody>
      </p:sp>
      <p:sp>
        <p:nvSpPr>
          <p:cNvPr id="16" name="TextBox 15"/>
          <p:cNvSpPr txBox="1"/>
          <p:nvPr/>
        </p:nvSpPr>
        <p:spPr>
          <a:xfrm>
            <a:off x="6210147" y="2993008"/>
            <a:ext cx="5432907" cy="626618"/>
          </a:xfrm>
          <a:prstGeom prst="rect">
            <a:avLst/>
          </a:prstGeom>
          <a:noFill/>
        </p:spPr>
        <p:txBody>
          <a:bodyPr wrap="square" anchor="t" lIns="73152" rIns="73152" tIns="27432" bIns="27432">
            <a:spAutoFit/>
          </a:bodyPr>
          <a:lstStyle/>
          <a:p>
            <a:r>
              <a:rPr sz="1400" b="0" i="1">
                <a:solidFill>
                  <a:srgbClr val="6E6256"/>
                </a:solidFill>
                <a:latin typeface="Calibri"/>
              </a:rPr>
              <a:t>• Not applicable to scanned-image PDFs (no OCR) and PowerPoint files.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3. Thuật ngữ</a:t>
            </a:r>
          </a:p>
          <a:p>
            <a:r>
              <a:rPr sz="1400" b="0" i="1">
                <a:solidFill>
                  <a:srgbClr val="F2C57B"/>
                </a:solidFill>
                <a:latin typeface="Calibri"/>
              </a:rPr>
              <a:t>Definitions</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5</a:t>
            </a:r>
          </a:p>
        </p:txBody>
      </p:sp>
      <p:graphicFrame>
        <p:nvGraphicFramePr>
          <p:cNvPr id="9" name="Table 8"/>
          <p:cNvGraphicFramePr>
            <a:graphicFrameLocks noGrp="1"/>
          </p:cNvGraphicFramePr>
          <p:nvPr/>
        </p:nvGraphicFramePr>
        <p:xfrm>
          <a:off x="548640" y="1188720"/>
          <a:ext cx="11094414" cy="2748915"/>
        </p:xfrm>
        <a:graphic>
          <a:graphicData uri="http://schemas.openxmlformats.org/drawingml/2006/table">
            <a:tbl>
              <a:tblPr firstRow="0" bandRow="0">
                <a:tableStyleId>{5C22544A-7EE6-4342-B048-85BDC9FD1C3A}</a:tableStyleId>
              </a:tblPr>
              <a:tblGrid>
                <a:gridCol w="3328324"/>
                <a:gridCol w="7766090"/>
              </a:tblGrid>
              <a:tr h="457200">
                <a:tc>
                  <a:txBody>
                    <a:bodyPr wrap="square"/>
                    <a:lstStyle/>
                    <a:p>
                      <a:r>
                        <a:rPr sz="1200" b="1">
                          <a:solidFill>
                            <a:srgbClr val="FFFFFF"/>
                          </a:solidFill>
                          <a:latin typeface="Calibri"/>
                        </a:rPr>
                        <a:t>Thuật ngữ</a:t>
                      </a:r>
                    </a:p>
                    <a:p>
                      <a:r>
                        <a:rPr sz="1100" i="1">
                          <a:solidFill>
                            <a:srgbClr val="E9DCC6"/>
                          </a:solidFill>
                          <a:latin typeface="Calibri"/>
                        </a:rPr>
                        <a:t>Term</a:t>
                      </a:r>
                    </a:p>
                  </a:txBody>
                  <a:tcPr marL="64008" marR="64008" marT="27432" marB="27432" anchor="ctr">
                    <a:solidFill>
                      <a:srgbClr val="174349"/>
                    </a:solidFill>
                  </a:tcPr>
                </a:tc>
                <a:tc>
                  <a:txBody>
                    <a:bodyPr wrap="square"/>
                    <a:lstStyle/>
                    <a:p>
                      <a:r>
                        <a:rPr sz="1200" b="1">
                          <a:solidFill>
                            <a:srgbClr val="FFFFFF"/>
                          </a:solidFill>
                          <a:latin typeface="Calibri"/>
                        </a:rPr>
                        <a:t>Ý nghĩa</a:t>
                      </a:r>
                    </a:p>
                    <a:p>
                      <a:r>
                        <a:rPr sz="1100" i="1">
                          <a:solidFill>
                            <a:srgbClr val="E9DCC6"/>
                          </a:solidFill>
                          <a:latin typeface="Calibri"/>
                        </a:rPr>
                        <a:t>Meaning</a:t>
                      </a:r>
                    </a:p>
                  </a:txBody>
                  <a:tcPr marL="64008" marR="64008" marT="27432" marB="27432" anchor="ctr">
                    <a:solidFill>
                      <a:srgbClr val="174349"/>
                    </a:solidFill>
                  </a:tcPr>
                </a:tc>
              </a:tr>
              <a:tr h="458343">
                <a:tc>
                  <a:txBody>
                    <a:bodyPr wrap="square"/>
                    <a:lstStyle/>
                    <a:p>
                      <a:r>
                        <a:rPr sz="1200" b="0">
                          <a:solidFill>
                            <a:srgbClr val="2A2A2A"/>
                          </a:solidFill>
                          <a:latin typeface="Calibri"/>
                        </a:rPr>
                        <a:t>Chỉ mục (Index / FTS)</a:t>
                      </a:r>
                    </a:p>
                    <a:p>
                      <a:r>
                        <a:rPr sz="1100" i="1">
                          <a:solidFill>
                            <a:srgbClr val="6E6256"/>
                          </a:solidFill>
                          <a:latin typeface="Calibri"/>
                        </a:rPr>
                        <a:t>Index (FTS)</a:t>
                      </a:r>
                    </a:p>
                  </a:txBody>
                  <a:tcPr marL="64008" marR="64008" marT="27432" marB="27432" anchor="t">
                    <a:solidFill>
                      <a:srgbClr val="FFFDF8"/>
                    </a:solidFill>
                  </a:tcPr>
                </a:tc>
                <a:tc>
                  <a:txBody>
                    <a:bodyPr wrap="square"/>
                    <a:lstStyle/>
                    <a:p>
                      <a:r>
                        <a:rPr sz="1200" b="0">
                          <a:solidFill>
                            <a:srgbClr val="2A2A2A"/>
                          </a:solidFill>
                          <a:latin typeface="Calibri"/>
                        </a:rPr>
                        <a:t>Cơ sở dữ liệu nội dung đã đọc sẵn từ tệp; giúp tìm gần như tức thì và không cần gõ dấu.</a:t>
                      </a:r>
                    </a:p>
                    <a:p>
                      <a:r>
                        <a:rPr sz="1100" i="1">
                          <a:solidFill>
                            <a:srgbClr val="6E6256"/>
                          </a:solidFill>
                          <a:latin typeface="Calibri"/>
                        </a:rPr>
                        <a:t>A database of text pre-read from files; makes searching near-instant and accent-insensitive.</a:t>
                      </a:r>
                    </a:p>
                  </a:txBody>
                  <a:tcPr marL="64008" marR="64008" marT="27432" marB="27432" anchor="t">
                    <a:solidFill>
                      <a:srgbClr val="FFFDF8"/>
                    </a:solidFill>
                  </a:tcPr>
                </a:tc>
              </a:tr>
              <a:tr h="458343">
                <a:tc>
                  <a:txBody>
                    <a:bodyPr wrap="square"/>
                    <a:lstStyle/>
                    <a:p>
                      <a:r>
                        <a:rPr sz="1200" b="0">
                          <a:solidFill>
                            <a:srgbClr val="2A2A2A"/>
                          </a:solidFill>
                          <a:latin typeface="Calibri"/>
                        </a:rPr>
                        <a:t>Quét trực tiếp (Live scan)</a:t>
                      </a:r>
                    </a:p>
                    <a:p>
                      <a:r>
                        <a:rPr sz="1100" i="1">
                          <a:solidFill>
                            <a:srgbClr val="6E6256"/>
                          </a:solidFill>
                          <a:latin typeface="Calibri"/>
                        </a:rPr>
                        <a:t>Live scan</a:t>
                      </a:r>
                    </a:p>
                  </a:txBody>
                  <a:tcPr marL="64008" marR="64008" marT="27432" marB="27432" anchor="t">
                    <a:solidFill>
                      <a:srgbClr val="FFF7E9"/>
                    </a:solidFill>
                  </a:tcPr>
                </a:tc>
                <a:tc>
                  <a:txBody>
                    <a:bodyPr wrap="square"/>
                    <a:lstStyle/>
                    <a:p>
                      <a:r>
                        <a:rPr sz="1200" b="0">
                          <a:solidFill>
                            <a:srgbClr val="2A2A2A"/>
                          </a:solidFill>
                          <a:latin typeface="Calibri"/>
                        </a:rPr>
                        <a:t>Đọc từng tệp ngay lúc tìm; không cần chỉ mục nhưng chậm hơn.</a:t>
                      </a:r>
                    </a:p>
                    <a:p>
                      <a:r>
                        <a:rPr sz="1100" i="1">
                          <a:solidFill>
                            <a:srgbClr val="6E6256"/>
                          </a:solidFill>
                          <a:latin typeface="Calibri"/>
                        </a:rPr>
                        <a:t>Reads every file at search time; needs no index but is slower.</a:t>
                      </a:r>
                    </a:p>
                  </a:txBody>
                  <a:tcPr marL="64008" marR="64008" marT="27432" marB="27432" anchor="t">
                    <a:solidFill>
                      <a:srgbClr val="FFF7E9"/>
                    </a:solidFill>
                  </a:tcPr>
                </a:tc>
              </a:tr>
              <a:tr h="458343">
                <a:tc>
                  <a:txBody>
                    <a:bodyPr wrap="square"/>
                    <a:lstStyle/>
                    <a:p>
                      <a:r>
                        <a:rPr sz="1200" b="0">
                          <a:solidFill>
                            <a:srgbClr val="2A2A2A"/>
                          </a:solidFill>
                          <a:latin typeface="Calibri"/>
                        </a:rPr>
                        <a:t>Từ khoá</a:t>
                      </a:r>
                    </a:p>
                    <a:p>
                      <a:r>
                        <a:rPr sz="1100" i="1">
                          <a:solidFill>
                            <a:srgbClr val="6E6256"/>
                          </a:solidFill>
                          <a:latin typeface="Calibri"/>
                        </a:rPr>
                        <a:t>Keyword</a:t>
                      </a:r>
                    </a:p>
                  </a:txBody>
                  <a:tcPr marL="64008" marR="64008" marT="27432" marB="27432" anchor="t">
                    <a:solidFill>
                      <a:srgbClr val="FFFDF8"/>
                    </a:solidFill>
                  </a:tcPr>
                </a:tc>
                <a:tc>
                  <a:txBody>
                    <a:bodyPr wrap="square"/>
                    <a:lstStyle/>
                    <a:p>
                      <a:r>
                        <a:rPr sz="1200" b="0">
                          <a:solidFill>
                            <a:srgbClr val="2A2A2A"/>
                          </a:solidFill>
                          <a:latin typeface="Calibri"/>
                        </a:rPr>
                        <a:t>Từ hoặc cụm từ cần tìm.</a:t>
                      </a:r>
                    </a:p>
                    <a:p>
                      <a:r>
                        <a:rPr sz="1100" i="1">
                          <a:solidFill>
                            <a:srgbClr val="6E6256"/>
                          </a:solidFill>
                          <a:latin typeface="Calibri"/>
                        </a:rPr>
                        <a:t>The word or phrase to look for.</a:t>
                      </a:r>
                    </a:p>
                  </a:txBody>
                  <a:tcPr marL="64008" marR="64008" marT="27432" marB="27432" anchor="t">
                    <a:solidFill>
                      <a:srgbClr val="FFFDF8"/>
                    </a:solidFill>
                  </a:tcPr>
                </a:tc>
              </a:tr>
              <a:tr h="458343">
                <a:tc>
                  <a:txBody>
                    <a:bodyPr wrap="square"/>
                    <a:lstStyle/>
                    <a:p>
                      <a:r>
                        <a:rPr sz="1200" b="0">
                          <a:solidFill>
                            <a:srgbClr val="2A2A2A"/>
                          </a:solidFill>
                          <a:latin typeface="Calibri"/>
                        </a:rPr>
                        <a:t>Đoạn trích (Snippet)</a:t>
                      </a:r>
                    </a:p>
                    <a:p>
                      <a:r>
                        <a:rPr sz="1100" i="1">
                          <a:solidFill>
                            <a:srgbClr val="6E6256"/>
                          </a:solidFill>
                          <a:latin typeface="Calibri"/>
                        </a:rPr>
                        <a:t>Snippet</a:t>
                      </a:r>
                    </a:p>
                  </a:txBody>
                  <a:tcPr marL="64008" marR="64008" marT="27432" marB="27432" anchor="t">
                    <a:solidFill>
                      <a:srgbClr val="FFF7E9"/>
                    </a:solidFill>
                  </a:tcPr>
                </a:tc>
                <a:tc>
                  <a:txBody>
                    <a:bodyPr wrap="square"/>
                    <a:lstStyle/>
                    <a:p>
                      <a:r>
                        <a:rPr sz="1200" b="0">
                          <a:solidFill>
                            <a:srgbClr val="2A2A2A"/>
                          </a:solidFill>
                          <a:latin typeface="Calibri"/>
                        </a:rPr>
                        <a:t>Vài chữ quanh vị trí tìm thấy, hiển thị ở cột cuối bảng kết quả.</a:t>
                      </a:r>
                    </a:p>
                    <a:p>
                      <a:r>
                        <a:rPr sz="1100" i="1">
                          <a:solidFill>
                            <a:srgbClr val="6E6256"/>
                          </a:solidFill>
                          <a:latin typeface="Calibri"/>
                        </a:rPr>
                        <a:t>A few words around the match, shown in the last results column.</a:t>
                      </a:r>
                    </a:p>
                  </a:txBody>
                  <a:tcPr marL="64008" marR="64008" marT="27432" marB="27432" anchor="t">
                    <a:solidFill>
                      <a:srgbClr val="FFF7E9"/>
                    </a:solidFill>
                  </a:tcPr>
                </a:tc>
              </a:tr>
              <a:tr h="458343">
                <a:tc>
                  <a:txBody>
                    <a:bodyPr wrap="square"/>
                    <a:lstStyle/>
                    <a:p>
                      <a:r>
                        <a:rPr sz="1200" b="0">
                          <a:solidFill>
                            <a:srgbClr val="2A2A2A"/>
                          </a:solidFill>
                          <a:latin typeface="Calibri"/>
                        </a:rPr>
                        <a:t>Giao diện (Appearance)</a:t>
                      </a:r>
                    </a:p>
                    <a:p>
                      <a:r>
                        <a:rPr sz="1100" i="1">
                          <a:solidFill>
                            <a:srgbClr val="6E6256"/>
                          </a:solidFill>
                          <a:latin typeface="Calibri"/>
                        </a:rPr>
                        <a:t>Appearance (theme)</a:t>
                      </a:r>
                    </a:p>
                  </a:txBody>
                  <a:tcPr marL="64008" marR="64008" marT="27432" marB="27432" anchor="t">
                    <a:solidFill>
                      <a:srgbClr val="FFFDF8"/>
                    </a:solidFill>
                  </a:tcPr>
                </a:tc>
                <a:tc>
                  <a:txBody>
                    <a:bodyPr wrap="square"/>
                    <a:lstStyle/>
                    <a:p>
                      <a:r>
                        <a:rPr sz="1200" b="0">
                          <a:solidFill>
                            <a:srgbClr val="2A2A2A"/>
                          </a:solidFill>
                          <a:latin typeface="Calibri"/>
                        </a:rPr>
                        <a:t>Bộ màu của ứng dụng: System, Light, Dark, Luxury Warm, Modern Blue-Gray.</a:t>
                      </a:r>
                    </a:p>
                    <a:p>
                      <a:r>
                        <a:rPr sz="1100" i="1">
                          <a:solidFill>
                            <a:srgbClr val="6E6256"/>
                          </a:solidFill>
                          <a:latin typeface="Calibri"/>
                        </a:rPr>
                        <a:t>The application colour set: System, Light, Dark, Luxury Warm, Modern Blue-Gray.</a:t>
                      </a:r>
                    </a:p>
                  </a:txBody>
                  <a:tcPr marL="64008" marR="64008" marT="27432" marB="27432" anchor="t">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4. Yêu cầu hệ thống</a:t>
            </a:r>
          </a:p>
          <a:p>
            <a:r>
              <a:rPr sz="1400" b="0" i="1">
                <a:solidFill>
                  <a:srgbClr val="F2C57B"/>
                </a:solidFill>
                <a:latin typeface="Calibri"/>
              </a:rPr>
              <a:t>Requirements</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6</a:t>
            </a:r>
          </a:p>
        </p:txBody>
      </p:sp>
      <p:sp>
        <p:nvSpPr>
          <p:cNvPr id="9" name="TextBox 8"/>
          <p:cNvSpPr txBox="1"/>
          <p:nvPr/>
        </p:nvSpPr>
        <p:spPr>
          <a:xfrm>
            <a:off x="548640" y="1188720"/>
            <a:ext cx="5432907" cy="626618"/>
          </a:xfrm>
          <a:prstGeom prst="rect">
            <a:avLst/>
          </a:prstGeom>
          <a:noFill/>
        </p:spPr>
        <p:txBody>
          <a:bodyPr wrap="square" anchor="t" lIns="73152" rIns="73152" tIns="27432" bIns="27432">
            <a:spAutoFit/>
          </a:bodyPr>
          <a:lstStyle/>
          <a:p>
            <a:r>
              <a:rPr sz="1550" b="0" i="0">
                <a:solidFill>
                  <a:srgbClr val="2A2A2A"/>
                </a:solidFill>
                <a:latin typeface="Calibri"/>
              </a:rPr>
              <a:t>• Windows 10 hoặc 11 (64-bit). Không cần cài đặt, không cần Python.</a:t>
            </a:r>
          </a:p>
        </p:txBody>
      </p:sp>
      <p:sp>
        <p:nvSpPr>
          <p:cNvPr id="10" name="TextBox 9"/>
          <p:cNvSpPr txBox="1"/>
          <p:nvPr/>
        </p:nvSpPr>
        <p:spPr>
          <a:xfrm>
            <a:off x="6210147" y="1188720"/>
            <a:ext cx="5432907" cy="626618"/>
          </a:xfrm>
          <a:prstGeom prst="rect">
            <a:avLst/>
          </a:prstGeom>
          <a:noFill/>
        </p:spPr>
        <p:txBody>
          <a:bodyPr wrap="square" anchor="t" lIns="73152" rIns="73152" tIns="27432" bIns="27432">
            <a:spAutoFit/>
          </a:bodyPr>
          <a:lstStyle/>
          <a:p>
            <a:r>
              <a:rPr sz="1400" b="0" i="1">
                <a:solidFill>
                  <a:srgbClr val="6E6256"/>
                </a:solidFill>
                <a:latin typeface="Calibri"/>
              </a:rPr>
              <a:t>• Windows 10 or 11 (64-bit). No installation and no Python required.</a:t>
            </a:r>
          </a:p>
        </p:txBody>
      </p:sp>
      <p:sp>
        <p:nvSpPr>
          <p:cNvPr id="11" name="TextBox 10"/>
          <p:cNvSpPr txBox="1"/>
          <p:nvPr/>
        </p:nvSpPr>
        <p:spPr>
          <a:xfrm>
            <a:off x="548640" y="1870202"/>
            <a:ext cx="5432907" cy="626618"/>
          </a:xfrm>
          <a:prstGeom prst="rect">
            <a:avLst/>
          </a:prstGeom>
          <a:noFill/>
        </p:spPr>
        <p:txBody>
          <a:bodyPr wrap="square" anchor="t" lIns="73152" rIns="73152" tIns="27432" bIns="27432">
            <a:spAutoFit/>
          </a:bodyPr>
          <a:lstStyle/>
          <a:p>
            <a:r>
              <a:rPr sz="1550" b="0" i="0">
                <a:solidFill>
                  <a:srgbClr val="2A2A2A"/>
                </a:solidFill>
                <a:latin typeface="Calibri"/>
              </a:rPr>
              <a:t>• Tệp Universal_Text_Search_v8.exe (khoảng 23 MB) đặt ở thư mục bất kỳ có quyền chạy.</a:t>
            </a:r>
          </a:p>
        </p:txBody>
      </p:sp>
      <p:sp>
        <p:nvSpPr>
          <p:cNvPr id="12" name="TextBox 11"/>
          <p:cNvSpPr txBox="1"/>
          <p:nvPr/>
        </p:nvSpPr>
        <p:spPr>
          <a:xfrm>
            <a:off x="6210147" y="1870202"/>
            <a:ext cx="5432907" cy="626618"/>
          </a:xfrm>
          <a:prstGeom prst="rect">
            <a:avLst/>
          </a:prstGeom>
          <a:noFill/>
        </p:spPr>
        <p:txBody>
          <a:bodyPr wrap="square" anchor="t" lIns="73152" rIns="73152" tIns="27432" bIns="27432">
            <a:spAutoFit/>
          </a:bodyPr>
          <a:lstStyle/>
          <a:p>
            <a:r>
              <a:rPr sz="1400" b="0" i="1">
                <a:solidFill>
                  <a:srgbClr val="6E6256"/>
                </a:solidFill>
                <a:latin typeface="Calibri"/>
              </a:rPr>
              <a:t>• The Universal_Text_Search_v8.exe file (about 23 MB) placed in any folder you can run from.</a:t>
            </a:r>
          </a:p>
        </p:txBody>
      </p:sp>
      <p:sp>
        <p:nvSpPr>
          <p:cNvPr id="13" name="TextBox 12"/>
          <p:cNvSpPr txBox="1"/>
          <p:nvPr/>
        </p:nvSpPr>
        <p:spPr>
          <a:xfrm>
            <a:off x="548640" y="2551684"/>
            <a:ext cx="5432907" cy="626618"/>
          </a:xfrm>
          <a:prstGeom prst="rect">
            <a:avLst/>
          </a:prstGeom>
          <a:noFill/>
        </p:spPr>
        <p:txBody>
          <a:bodyPr wrap="square" anchor="t" lIns="73152" rIns="73152" tIns="27432" bIns="27432">
            <a:spAutoFit/>
          </a:bodyPr>
          <a:lstStyle/>
          <a:p>
            <a:r>
              <a:rPr sz="1550" b="0" i="0">
                <a:solidFill>
                  <a:srgbClr val="2A2A2A"/>
                </a:solidFill>
                <a:latin typeface="Calibri"/>
              </a:rPr>
              <a:t>• Quyền đọc các thư mục cần tìm; quyền ghi vào thư mục AppData của bạn (để lưu chỉ mục).</a:t>
            </a:r>
          </a:p>
        </p:txBody>
      </p:sp>
      <p:sp>
        <p:nvSpPr>
          <p:cNvPr id="14" name="TextBox 13"/>
          <p:cNvSpPr txBox="1"/>
          <p:nvPr/>
        </p:nvSpPr>
        <p:spPr>
          <a:xfrm>
            <a:off x="6210147" y="2551684"/>
            <a:ext cx="5432907" cy="626618"/>
          </a:xfrm>
          <a:prstGeom prst="rect">
            <a:avLst/>
          </a:prstGeom>
          <a:noFill/>
        </p:spPr>
        <p:txBody>
          <a:bodyPr wrap="square" anchor="t" lIns="73152" rIns="73152" tIns="27432" bIns="27432">
            <a:spAutoFit/>
          </a:bodyPr>
          <a:lstStyle/>
          <a:p>
            <a:r>
              <a:rPr sz="1400" b="0" i="1">
                <a:solidFill>
                  <a:srgbClr val="6E6256"/>
                </a:solidFill>
                <a:latin typeface="Calibri"/>
              </a:rPr>
              <a:t>• Read access to the folders to search; write access to your AppData folder (to store the index).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5. Giao diện chính</a:t>
            </a:r>
          </a:p>
          <a:p>
            <a:r>
              <a:rPr sz="1400" b="0" i="1">
                <a:solidFill>
                  <a:srgbClr val="F2C57B"/>
                </a:solidFill>
                <a:latin typeface="Calibri"/>
              </a:rPr>
              <a:t>Main window</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7</a:t>
            </a:r>
          </a:p>
        </p:txBody>
      </p:sp>
      <p:pic>
        <p:nvPicPr>
          <p:cNvPr id="9" name="Picture 8" descr="ui_main_callouts.png"/>
          <p:cNvPicPr>
            <a:picLocks noChangeAspect="1"/>
          </p:cNvPicPr>
          <p:nvPr/>
        </p:nvPicPr>
        <p:blipFill>
          <a:blip r:embed="rId6"/>
          <a:stretch>
            <a:fillRect/>
          </a:stretch>
        </p:blipFill>
        <p:spPr>
          <a:xfrm>
            <a:off x="1723056" y="1188720"/>
            <a:ext cx="8745582" cy="4709159"/>
          </a:xfrm>
          <a:prstGeom prst="rect">
            <a:avLst/>
          </a:prstGeom>
          <a:ln>
            <a:solidFill>
              <a:srgbClr val="D9CBB7"/>
            </a:solidFill>
          </a:ln>
        </p:spPr>
      </p:pic>
      <p:sp>
        <p:nvSpPr>
          <p:cNvPr id="10" name="TextBox 9"/>
          <p:cNvSpPr txBox="1"/>
          <p:nvPr/>
        </p:nvSpPr>
        <p:spPr>
          <a:xfrm>
            <a:off x="548640" y="5934455"/>
            <a:ext cx="11094415" cy="274320"/>
          </a:xfrm>
          <a:prstGeom prst="rect">
            <a:avLst/>
          </a:prstGeom>
          <a:noFill/>
        </p:spPr>
        <p:txBody>
          <a:bodyPr wrap="square" anchor="t" lIns="73152" rIns="73152" tIns="27432" bIns="27432">
            <a:spAutoFit/>
          </a:bodyPr>
          <a:lstStyle/>
          <a:p>
            <a:pPr algn="ctr"/>
            <a:r>
              <a:rPr sz="950" b="0" i="1">
                <a:solidFill>
                  <a:srgbClr val="6E6256"/>
                </a:solidFill>
                <a:latin typeface="Calibri"/>
              </a:rPr>
              <a:t>Hình 1 – Cửa sổ chính với các vùng được đánh số.  /  Figure 1 – Main window with numbered areas.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5. Giao diện chính  (tiếp / cont.)</a:t>
            </a:r>
          </a:p>
          <a:p>
            <a:r>
              <a:rPr sz="1400" b="0" i="1">
                <a:solidFill>
                  <a:srgbClr val="F2C57B"/>
                </a:solidFill>
                <a:latin typeface="Calibri"/>
              </a:rPr>
              <a:t>Main window</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8</a:t>
            </a:r>
          </a:p>
        </p:txBody>
      </p:sp>
      <p:graphicFrame>
        <p:nvGraphicFramePr>
          <p:cNvPr id="9" name="Table 8"/>
          <p:cNvGraphicFramePr>
            <a:graphicFrameLocks noGrp="1"/>
          </p:cNvGraphicFramePr>
          <p:nvPr/>
        </p:nvGraphicFramePr>
        <p:xfrm>
          <a:off x="548640" y="1188720"/>
          <a:ext cx="11094415" cy="5040630"/>
        </p:xfrm>
        <a:graphic>
          <a:graphicData uri="http://schemas.openxmlformats.org/drawingml/2006/table">
            <a:tbl>
              <a:tblPr firstRow="0" bandRow="0">
                <a:tableStyleId>{5C22544A-7EE6-4342-B048-85BDC9FD1C3A}</a:tableStyleId>
              </a:tblPr>
              <a:tblGrid>
                <a:gridCol w="776609"/>
                <a:gridCol w="3661157"/>
                <a:gridCol w="6656649"/>
              </a:tblGrid>
              <a:tr h="457200">
                <a:tc>
                  <a:txBody>
                    <a:bodyPr wrap="square"/>
                    <a:lstStyle/>
                    <a:p>
                      <a:r>
                        <a:rPr sz="1200" b="1">
                          <a:solidFill>
                            <a:srgbClr val="FFFFFF"/>
                          </a:solidFill>
                          <a:latin typeface="Calibri"/>
                        </a:rPr>
                        <a:t>#</a:t>
                      </a:r>
                    </a:p>
                  </a:txBody>
                  <a:tcPr marL="64008" marR="64008" marT="27432" marB="27432" anchor="ctr">
                    <a:solidFill>
                      <a:srgbClr val="174349"/>
                    </a:solidFill>
                  </a:tcPr>
                </a:tc>
                <a:tc>
                  <a:txBody>
                    <a:bodyPr wrap="square"/>
                    <a:lstStyle/>
                    <a:p>
                      <a:r>
                        <a:rPr sz="1200" b="1">
                          <a:solidFill>
                            <a:srgbClr val="FFFFFF"/>
                          </a:solidFill>
                          <a:latin typeface="Calibri"/>
                        </a:rPr>
                        <a:t>Vùng</a:t>
                      </a:r>
                    </a:p>
                    <a:p>
                      <a:r>
                        <a:rPr sz="1100" i="1">
                          <a:solidFill>
                            <a:srgbClr val="E9DCC6"/>
                          </a:solidFill>
                          <a:latin typeface="Calibri"/>
                        </a:rPr>
                        <a:t>Area</a:t>
                      </a:r>
                    </a:p>
                  </a:txBody>
                  <a:tcPr marL="64008" marR="64008" marT="27432" marB="27432" anchor="ctr">
                    <a:solidFill>
                      <a:srgbClr val="174349"/>
                    </a:solidFill>
                  </a:tcPr>
                </a:tc>
                <a:tc>
                  <a:txBody>
                    <a:bodyPr wrap="square"/>
                    <a:lstStyle/>
                    <a:p>
                      <a:r>
                        <a:rPr sz="1200" b="1">
                          <a:solidFill>
                            <a:srgbClr val="FFFFFF"/>
                          </a:solidFill>
                          <a:latin typeface="Calibri"/>
                        </a:rPr>
                        <a:t>Chức năng</a:t>
                      </a:r>
                    </a:p>
                    <a:p>
                      <a:r>
                        <a:rPr sz="1100" i="1">
                          <a:solidFill>
                            <a:srgbClr val="E9DCC6"/>
                          </a:solidFill>
                          <a:latin typeface="Calibri"/>
                        </a:rPr>
                        <a:t>Function</a:t>
                      </a:r>
                    </a:p>
                  </a:txBody>
                  <a:tcPr marL="64008" marR="64008" marT="27432" marB="27432" anchor="ctr">
                    <a:solidFill>
                      <a:srgbClr val="174349"/>
                    </a:solidFill>
                  </a:tcPr>
                </a:tc>
              </a:tr>
              <a:tr h="458343">
                <a:tc>
                  <a:txBody>
                    <a:bodyPr wrap="square"/>
                    <a:lstStyle/>
                    <a:p>
                      <a:r>
                        <a:rPr sz="1200" b="1">
                          <a:solidFill>
                            <a:srgbClr val="2A2A2A"/>
                          </a:solidFill>
                          <a:latin typeface="Calibri"/>
                        </a:rPr>
                        <a:t>1</a:t>
                      </a:r>
                    </a:p>
                  </a:txBody>
                  <a:tcPr marL="64008" marR="64008" marT="27432" marB="27432" anchor="t">
                    <a:solidFill>
                      <a:srgbClr val="FFFDF8"/>
                    </a:solidFill>
                  </a:tcPr>
                </a:tc>
                <a:tc>
                  <a:txBody>
                    <a:bodyPr wrap="square"/>
                    <a:lstStyle/>
                    <a:p>
                      <a:r>
                        <a:rPr sz="1200" b="0">
                          <a:solidFill>
                            <a:srgbClr val="2A2A2A"/>
                          </a:solidFill>
                          <a:latin typeface="Calibri"/>
                        </a:rPr>
                        <a:t>Từ khoá</a:t>
                      </a:r>
                    </a:p>
                    <a:p>
                      <a:r>
                        <a:rPr sz="1100" i="1">
                          <a:solidFill>
                            <a:srgbClr val="6E6256"/>
                          </a:solidFill>
                          <a:latin typeface="Calibri"/>
                        </a:rPr>
                        <a:t>Keyword</a:t>
                      </a:r>
                    </a:p>
                  </a:txBody>
                  <a:tcPr marL="64008" marR="64008" marT="27432" marB="27432" anchor="t">
                    <a:solidFill>
                      <a:srgbClr val="FFFDF8"/>
                    </a:solidFill>
                  </a:tcPr>
                </a:tc>
                <a:tc>
                  <a:txBody>
                    <a:bodyPr wrap="square"/>
                    <a:lstStyle/>
                    <a:p>
                      <a:r>
                        <a:rPr sz="1200" b="0">
                          <a:solidFill>
                            <a:srgbClr val="2A2A2A"/>
                          </a:solidFill>
                          <a:latin typeface="Calibri"/>
                        </a:rPr>
                        <a:t>Nhập từ/cụm từ cần tìm; nhấn Enter để tìm.</a:t>
                      </a:r>
                    </a:p>
                    <a:p>
                      <a:r>
                        <a:rPr sz="1100" i="1">
                          <a:solidFill>
                            <a:srgbClr val="6E6256"/>
                          </a:solidFill>
                          <a:latin typeface="Calibri"/>
                        </a:rPr>
                        <a:t>Type the word/phrase to find; press Enter to search.</a:t>
                      </a:r>
                    </a:p>
                  </a:txBody>
                  <a:tcPr marL="64008" marR="64008" marT="27432" marB="27432" anchor="t">
                    <a:solidFill>
                      <a:srgbClr val="FFFDF8"/>
                    </a:solidFill>
                  </a:tcPr>
                </a:tc>
              </a:tr>
              <a:tr h="458343">
                <a:tc>
                  <a:txBody>
                    <a:bodyPr wrap="square"/>
                    <a:lstStyle/>
                    <a:p>
                      <a:r>
                        <a:rPr sz="1200" b="1">
                          <a:solidFill>
                            <a:srgbClr val="2A2A2A"/>
                          </a:solidFill>
                          <a:latin typeface="Calibri"/>
                        </a:rPr>
                        <a:t>2</a:t>
                      </a:r>
                    </a:p>
                  </a:txBody>
                  <a:tcPr marL="64008" marR="64008" marT="27432" marB="27432" anchor="t">
                    <a:solidFill>
                      <a:srgbClr val="FFF7E9"/>
                    </a:solidFill>
                  </a:tcPr>
                </a:tc>
                <a:tc>
                  <a:txBody>
                    <a:bodyPr wrap="square"/>
                    <a:lstStyle/>
                    <a:p>
                      <a:r>
                        <a:rPr sz="1200" b="0">
                          <a:solidFill>
                            <a:srgbClr val="2A2A2A"/>
                          </a:solidFill>
                          <a:latin typeface="Calibri"/>
                        </a:rPr>
                        <a:t>Add Folder (Ctrl+O)</a:t>
                      </a:r>
                    </a:p>
                  </a:txBody>
                  <a:tcPr marL="64008" marR="64008" marT="27432" marB="27432" anchor="t">
                    <a:solidFill>
                      <a:srgbClr val="FFF7E9"/>
                    </a:solidFill>
                  </a:tcPr>
                </a:tc>
                <a:tc>
                  <a:txBody>
                    <a:bodyPr wrap="square"/>
                    <a:lstStyle/>
                    <a:p>
                      <a:r>
                        <a:rPr sz="1200" b="0">
                          <a:solidFill>
                            <a:srgbClr val="2A2A2A"/>
                          </a:solidFill>
                          <a:latin typeface="Calibri"/>
                        </a:rPr>
                        <a:t>Thêm thư mục vào danh sách tìm kiếm.</a:t>
                      </a:r>
                    </a:p>
                    <a:p>
                      <a:r>
                        <a:rPr sz="1100" i="1">
                          <a:solidFill>
                            <a:srgbClr val="6E6256"/>
                          </a:solidFill>
                          <a:latin typeface="Calibri"/>
                        </a:rPr>
                        <a:t>Add a folder to the search list.</a:t>
                      </a:r>
                    </a:p>
                  </a:txBody>
                  <a:tcPr marL="64008" marR="64008" marT="27432" marB="27432" anchor="t">
                    <a:solidFill>
                      <a:srgbClr val="FFF7E9"/>
                    </a:solidFill>
                  </a:tcPr>
                </a:tc>
              </a:tr>
              <a:tr h="458343">
                <a:tc>
                  <a:txBody>
                    <a:bodyPr wrap="square"/>
                    <a:lstStyle/>
                    <a:p>
                      <a:r>
                        <a:rPr sz="1200" b="1">
                          <a:solidFill>
                            <a:srgbClr val="2A2A2A"/>
                          </a:solidFill>
                          <a:latin typeface="Calibri"/>
                        </a:rPr>
                        <a:t>3</a:t>
                      </a:r>
                    </a:p>
                  </a:txBody>
                  <a:tcPr marL="64008" marR="64008" marT="27432" marB="27432" anchor="t">
                    <a:solidFill>
                      <a:srgbClr val="FFFDF8"/>
                    </a:solidFill>
                  </a:tcPr>
                </a:tc>
                <a:tc>
                  <a:txBody>
                    <a:bodyPr wrap="square"/>
                    <a:lstStyle/>
                    <a:p>
                      <a:r>
                        <a:rPr sz="1200" b="0">
                          <a:solidFill>
                            <a:srgbClr val="2A2A2A"/>
                          </a:solidFill>
                          <a:latin typeface="Calibri"/>
                        </a:rPr>
                        <a:t>Search (Enter)</a:t>
                      </a:r>
                    </a:p>
                  </a:txBody>
                  <a:tcPr marL="64008" marR="64008" marT="27432" marB="27432" anchor="t">
                    <a:solidFill>
                      <a:srgbClr val="FFFDF8"/>
                    </a:solidFill>
                  </a:tcPr>
                </a:tc>
                <a:tc>
                  <a:txBody>
                    <a:bodyPr wrap="square"/>
                    <a:lstStyle/>
                    <a:p>
                      <a:r>
                        <a:rPr sz="1200" b="0">
                          <a:solidFill>
                            <a:srgbClr val="2A2A2A"/>
                          </a:solidFill>
                          <a:latin typeface="Calibri"/>
                        </a:rPr>
                        <a:t>Bắt đầu tìm kiếm.</a:t>
                      </a:r>
                    </a:p>
                    <a:p>
                      <a:r>
                        <a:rPr sz="1100" i="1">
                          <a:solidFill>
                            <a:srgbClr val="6E6256"/>
                          </a:solidFill>
                          <a:latin typeface="Calibri"/>
                        </a:rPr>
                        <a:t>Start the search.</a:t>
                      </a:r>
                    </a:p>
                  </a:txBody>
                  <a:tcPr marL="64008" marR="64008" marT="27432" marB="27432" anchor="t">
                    <a:solidFill>
                      <a:srgbClr val="FFFDF8"/>
                    </a:solidFill>
                  </a:tcPr>
                </a:tc>
              </a:tr>
              <a:tr h="458343">
                <a:tc>
                  <a:txBody>
                    <a:bodyPr wrap="square"/>
                    <a:lstStyle/>
                    <a:p>
                      <a:r>
                        <a:rPr sz="1200" b="1">
                          <a:solidFill>
                            <a:srgbClr val="2A2A2A"/>
                          </a:solidFill>
                          <a:latin typeface="Calibri"/>
                        </a:rPr>
                        <a:t>4</a:t>
                      </a:r>
                    </a:p>
                  </a:txBody>
                  <a:tcPr marL="64008" marR="64008" marT="27432" marB="27432" anchor="t">
                    <a:solidFill>
                      <a:srgbClr val="FFF7E9"/>
                    </a:solidFill>
                  </a:tcPr>
                </a:tc>
                <a:tc>
                  <a:txBody>
                    <a:bodyPr wrap="square"/>
                    <a:lstStyle/>
                    <a:p>
                      <a:r>
                        <a:rPr sz="1200" b="0">
                          <a:solidFill>
                            <a:srgbClr val="2A2A2A"/>
                          </a:solidFill>
                          <a:latin typeface="Calibri"/>
                        </a:rPr>
                        <a:t>From / To</a:t>
                      </a:r>
                    </a:p>
                  </a:txBody>
                  <a:tcPr marL="64008" marR="64008" marT="27432" marB="27432" anchor="t">
                    <a:solidFill>
                      <a:srgbClr val="FFF7E9"/>
                    </a:solidFill>
                  </a:tcPr>
                </a:tc>
                <a:tc>
                  <a:txBody>
                    <a:bodyPr wrap="square"/>
                    <a:lstStyle/>
                    <a:p>
                      <a:r>
                        <a:rPr sz="1200" b="0">
                          <a:solidFill>
                            <a:srgbClr val="2A2A2A"/>
                          </a:solidFill>
                          <a:latin typeface="Calibri"/>
                        </a:rPr>
                        <a:t>Lọc theo ngày sửa tệp, định dạng YYYY-MM-DD.</a:t>
                      </a:r>
                    </a:p>
                    <a:p>
                      <a:r>
                        <a:rPr sz="1100" i="1">
                          <a:solidFill>
                            <a:srgbClr val="6E6256"/>
                          </a:solidFill>
                          <a:latin typeface="Calibri"/>
                        </a:rPr>
                        <a:t>Filter by file modified date, format YYYY-MM-DD.</a:t>
                      </a:r>
                    </a:p>
                  </a:txBody>
                  <a:tcPr marL="64008" marR="64008" marT="27432" marB="27432" anchor="t">
                    <a:solidFill>
                      <a:srgbClr val="FFF7E9"/>
                    </a:solidFill>
                  </a:tcPr>
                </a:tc>
              </a:tr>
              <a:tr h="458343">
                <a:tc>
                  <a:txBody>
                    <a:bodyPr wrap="square"/>
                    <a:lstStyle/>
                    <a:p>
                      <a:r>
                        <a:rPr sz="1200" b="1">
                          <a:solidFill>
                            <a:srgbClr val="2A2A2A"/>
                          </a:solidFill>
                          <a:latin typeface="Calibri"/>
                        </a:rPr>
                        <a:t>5</a:t>
                      </a:r>
                    </a:p>
                  </a:txBody>
                  <a:tcPr marL="64008" marR="64008" marT="27432" marB="27432" anchor="t">
                    <a:solidFill>
                      <a:srgbClr val="FFFDF8"/>
                    </a:solidFill>
                  </a:tcPr>
                </a:tc>
                <a:tc>
                  <a:txBody>
                    <a:bodyPr wrap="square"/>
                    <a:lstStyle/>
                    <a:p>
                      <a:r>
                        <a:rPr sz="1200" b="0">
                          <a:solidFill>
                            <a:srgbClr val="2A2A2A"/>
                          </a:solidFill>
                          <a:latin typeface="Calibri"/>
                        </a:rPr>
                        <a:t>Use Index (FTS)</a:t>
                      </a:r>
                    </a:p>
                  </a:txBody>
                  <a:tcPr marL="64008" marR="64008" marT="27432" marB="27432" anchor="t">
                    <a:solidFill>
                      <a:srgbClr val="FFFDF8"/>
                    </a:solidFill>
                  </a:tcPr>
                </a:tc>
                <a:tc>
                  <a:txBody>
                    <a:bodyPr wrap="square"/>
                    <a:lstStyle/>
                    <a:p>
                      <a:r>
                        <a:rPr sz="1200" b="0">
                          <a:solidFill>
                            <a:srgbClr val="2A2A2A"/>
                          </a:solidFill>
                          <a:latin typeface="Calibri"/>
                        </a:rPr>
                        <a:t>Bật: tìm bằng chỉ mục (nhanh). Tắt: quét trực tiếp.</a:t>
                      </a:r>
                    </a:p>
                    <a:p>
                      <a:r>
                        <a:rPr sz="1100" i="1">
                          <a:solidFill>
                            <a:srgbClr val="6E6256"/>
                          </a:solidFill>
                          <a:latin typeface="Calibri"/>
                        </a:rPr>
                        <a:t>On: search with the index (fast). Off: live scan.</a:t>
                      </a:r>
                    </a:p>
                  </a:txBody>
                  <a:tcPr marL="64008" marR="64008" marT="27432" marB="27432" anchor="t">
                    <a:solidFill>
                      <a:srgbClr val="FFFDF8"/>
                    </a:solidFill>
                  </a:tcPr>
                </a:tc>
              </a:tr>
              <a:tr h="458343">
                <a:tc>
                  <a:txBody>
                    <a:bodyPr wrap="square"/>
                    <a:lstStyle/>
                    <a:p>
                      <a:r>
                        <a:rPr sz="1200" b="1">
                          <a:solidFill>
                            <a:srgbClr val="2A2A2A"/>
                          </a:solidFill>
                          <a:latin typeface="Calibri"/>
                        </a:rPr>
                        <a:t>6</a:t>
                      </a:r>
                    </a:p>
                  </a:txBody>
                  <a:tcPr marL="64008" marR="64008" marT="27432" marB="27432" anchor="t">
                    <a:solidFill>
                      <a:srgbClr val="FFF7E9"/>
                    </a:solidFill>
                  </a:tcPr>
                </a:tc>
                <a:tc>
                  <a:txBody>
                    <a:bodyPr wrap="square"/>
                    <a:lstStyle/>
                    <a:p>
                      <a:r>
                        <a:rPr sz="1200" b="0">
                          <a:solidFill>
                            <a:srgbClr val="2A2A2A"/>
                          </a:solidFill>
                          <a:latin typeface="Calibri"/>
                        </a:rPr>
                        <a:t>Extensions</a:t>
                      </a:r>
                    </a:p>
                  </a:txBody>
                  <a:tcPr marL="64008" marR="64008" marT="27432" marB="27432" anchor="t">
                    <a:solidFill>
                      <a:srgbClr val="FFF7E9"/>
                    </a:solidFill>
                  </a:tcPr>
                </a:tc>
                <a:tc>
                  <a:txBody>
                    <a:bodyPr wrap="square"/>
                    <a:lstStyle/>
                    <a:p>
                      <a:r>
                        <a:rPr sz="1200" b="0">
                          <a:solidFill>
                            <a:srgbClr val="2A2A2A"/>
                          </a:solidFill>
                          <a:latin typeface="Calibri"/>
                        </a:rPr>
                        <a:t>Chọn nhóm loại tệp cần tìm.</a:t>
                      </a:r>
                    </a:p>
                    <a:p>
                      <a:r>
                        <a:rPr sz="1100" i="1">
                          <a:solidFill>
                            <a:srgbClr val="6E6256"/>
                          </a:solidFill>
                          <a:latin typeface="Calibri"/>
                        </a:rPr>
                        <a:t>Choose which file types to search.</a:t>
                      </a:r>
                    </a:p>
                  </a:txBody>
                  <a:tcPr marL="64008" marR="64008" marT="27432" marB="27432" anchor="t">
                    <a:solidFill>
                      <a:srgbClr val="FFF7E9"/>
                    </a:solidFill>
                  </a:tcPr>
                </a:tc>
              </a:tr>
              <a:tr h="458343">
                <a:tc>
                  <a:txBody>
                    <a:bodyPr wrap="square"/>
                    <a:lstStyle/>
                    <a:p>
                      <a:r>
                        <a:rPr sz="1200" b="1">
                          <a:solidFill>
                            <a:srgbClr val="2A2A2A"/>
                          </a:solidFill>
                          <a:latin typeface="Calibri"/>
                        </a:rPr>
                        <a:t>7</a:t>
                      </a:r>
                    </a:p>
                  </a:txBody>
                  <a:tcPr marL="64008" marR="64008" marT="27432" marB="27432" anchor="t">
                    <a:solidFill>
                      <a:srgbClr val="FFFDF8"/>
                    </a:solidFill>
                  </a:tcPr>
                </a:tc>
                <a:tc>
                  <a:txBody>
                    <a:bodyPr wrap="square"/>
                    <a:lstStyle/>
                    <a:p>
                      <a:r>
                        <a:rPr sz="1200" b="0">
                          <a:solidFill>
                            <a:srgbClr val="2A2A2A"/>
                          </a:solidFill>
                          <a:latin typeface="Calibri"/>
                        </a:rPr>
                        <a:t>Folders / Files</a:t>
                      </a:r>
                    </a:p>
                  </a:txBody>
                  <a:tcPr marL="64008" marR="64008" marT="27432" marB="27432" anchor="t">
                    <a:solidFill>
                      <a:srgbClr val="FFFDF8"/>
                    </a:solidFill>
                  </a:tcPr>
                </a:tc>
                <a:tc>
                  <a:txBody>
                    <a:bodyPr wrap="square"/>
                    <a:lstStyle/>
                    <a:p>
                      <a:r>
                        <a:rPr sz="1200" b="0">
                          <a:solidFill>
                            <a:srgbClr val="2A2A2A"/>
                          </a:solidFill>
                          <a:latin typeface="Calibri"/>
                        </a:rPr>
                        <a:t>Danh sách đường dẫn, mỗi dòng một đường dẫn.</a:t>
                      </a:r>
                    </a:p>
                    <a:p>
                      <a:r>
                        <a:rPr sz="1100" i="1">
                          <a:solidFill>
                            <a:srgbClr val="6E6256"/>
                          </a:solidFill>
                          <a:latin typeface="Calibri"/>
                        </a:rPr>
                        <a:t>List of paths, one path per line.</a:t>
                      </a:r>
                    </a:p>
                  </a:txBody>
                  <a:tcPr marL="64008" marR="64008" marT="27432" marB="27432" anchor="t">
                    <a:solidFill>
                      <a:srgbClr val="FFFDF8"/>
                    </a:solidFill>
                  </a:tcPr>
                </a:tc>
              </a:tr>
              <a:tr h="458343">
                <a:tc>
                  <a:txBody>
                    <a:bodyPr wrap="square"/>
                    <a:lstStyle/>
                    <a:p>
                      <a:r>
                        <a:rPr sz="1200" b="1">
                          <a:solidFill>
                            <a:srgbClr val="2A2A2A"/>
                          </a:solidFill>
                          <a:latin typeface="Calibri"/>
                        </a:rPr>
                        <a:t>8</a:t>
                      </a:r>
                    </a:p>
                  </a:txBody>
                  <a:tcPr marL="64008" marR="64008" marT="27432" marB="27432" anchor="t">
                    <a:solidFill>
                      <a:srgbClr val="FFF7E9"/>
                    </a:solidFill>
                  </a:tcPr>
                </a:tc>
                <a:tc>
                  <a:txBody>
                    <a:bodyPr wrap="square"/>
                    <a:lstStyle/>
                    <a:p>
                      <a:r>
                        <a:rPr sz="1200" b="0">
                          <a:solidFill>
                            <a:srgbClr val="2A2A2A"/>
                          </a:solidFill>
                          <a:latin typeface="Calibri"/>
                        </a:rPr>
                        <a:t>Update Index (Ctrl+U)</a:t>
                      </a:r>
                    </a:p>
                  </a:txBody>
                  <a:tcPr marL="64008" marR="64008" marT="27432" marB="27432" anchor="t">
                    <a:solidFill>
                      <a:srgbClr val="FFF7E9"/>
                    </a:solidFill>
                  </a:tcPr>
                </a:tc>
                <a:tc>
                  <a:txBody>
                    <a:bodyPr wrap="square"/>
                    <a:lstStyle/>
                    <a:p>
                      <a:r>
                        <a:rPr sz="1200" b="0">
                          <a:solidFill>
                            <a:srgbClr val="2A2A2A"/>
                          </a:solidFill>
                          <a:latin typeface="Calibri"/>
                        </a:rPr>
                        <a:t>Đọc và lập chỉ mục các tệp mới/đã đổi.</a:t>
                      </a:r>
                    </a:p>
                    <a:p>
                      <a:r>
                        <a:rPr sz="1100" i="1">
                          <a:solidFill>
                            <a:srgbClr val="6E6256"/>
                          </a:solidFill>
                          <a:latin typeface="Calibri"/>
                        </a:rPr>
                        <a:t>Read and index new/changed files.</a:t>
                      </a:r>
                    </a:p>
                  </a:txBody>
                  <a:tcPr marL="64008" marR="64008" marT="27432" marB="27432" anchor="t">
                    <a:solidFill>
                      <a:srgbClr val="FFF7E9"/>
                    </a:solidFill>
                  </a:tcPr>
                </a:tc>
              </a:tr>
              <a:tr h="458343">
                <a:tc>
                  <a:txBody>
                    <a:bodyPr wrap="square"/>
                    <a:lstStyle/>
                    <a:p>
                      <a:r>
                        <a:rPr sz="1200" b="1">
                          <a:solidFill>
                            <a:srgbClr val="2A2A2A"/>
                          </a:solidFill>
                          <a:latin typeface="Calibri"/>
                        </a:rPr>
                        <a:t>9</a:t>
                      </a:r>
                    </a:p>
                  </a:txBody>
                  <a:tcPr marL="64008" marR="64008" marT="27432" marB="27432" anchor="t">
                    <a:solidFill>
                      <a:srgbClr val="FFFDF8"/>
                    </a:solidFill>
                  </a:tcPr>
                </a:tc>
                <a:tc>
                  <a:txBody>
                    <a:bodyPr wrap="square"/>
                    <a:lstStyle/>
                    <a:p>
                      <a:r>
                        <a:rPr sz="1200" b="0">
                          <a:solidFill>
                            <a:srgbClr val="2A2A2A"/>
                          </a:solidFill>
                          <a:latin typeface="Calibri"/>
                        </a:rPr>
                        <a:t>Bảng kết quả</a:t>
                      </a:r>
                    </a:p>
                    <a:p>
                      <a:r>
                        <a:rPr sz="1100" i="1">
                          <a:solidFill>
                            <a:srgbClr val="6E6256"/>
                          </a:solidFill>
                          <a:latin typeface="Calibri"/>
                        </a:rPr>
                        <a:t>Results table</a:t>
                      </a:r>
                    </a:p>
                  </a:txBody>
                  <a:tcPr marL="64008" marR="64008" marT="27432" marB="27432" anchor="t">
                    <a:solidFill>
                      <a:srgbClr val="FFFDF8"/>
                    </a:solidFill>
                  </a:tcPr>
                </a:tc>
                <a:tc>
                  <a:txBody>
                    <a:bodyPr wrap="square"/>
                    <a:lstStyle/>
                    <a:p>
                      <a:r>
                        <a:rPr sz="1200" b="0">
                          <a:solidFill>
                            <a:srgbClr val="2A2A2A"/>
                          </a:solidFill>
                          <a:latin typeface="Calibri"/>
                        </a:rPr>
                        <a:t>Danh sách tệp tìm thấy; bấm tiêu đề cột để sắp xếp.</a:t>
                      </a:r>
                    </a:p>
                    <a:p>
                      <a:r>
                        <a:rPr sz="1100" i="1">
                          <a:solidFill>
                            <a:srgbClr val="6E6256"/>
                          </a:solidFill>
                          <a:latin typeface="Calibri"/>
                        </a:rPr>
                        <a:t>Files found; click a column header to sort.</a:t>
                      </a:r>
                    </a:p>
                  </a:txBody>
                  <a:tcPr marL="64008" marR="64008" marT="27432" marB="27432" anchor="t">
                    <a:solidFill>
                      <a:srgbClr val="FFFDF8"/>
                    </a:solidFill>
                  </a:tcPr>
                </a:tc>
              </a:tr>
              <a:tr h="458343">
                <a:tc>
                  <a:txBody>
                    <a:bodyPr wrap="square"/>
                    <a:lstStyle/>
                    <a:p>
                      <a:r>
                        <a:rPr sz="1200" b="1">
                          <a:solidFill>
                            <a:srgbClr val="2A2A2A"/>
                          </a:solidFill>
                          <a:latin typeface="Calibri"/>
                        </a:rPr>
                        <a:t>10</a:t>
                      </a:r>
                    </a:p>
                  </a:txBody>
                  <a:tcPr marL="64008" marR="64008" marT="27432" marB="27432" anchor="t">
                    <a:solidFill>
                      <a:srgbClr val="FFF7E9"/>
                    </a:solidFill>
                  </a:tcPr>
                </a:tc>
                <a:tc>
                  <a:txBody>
                    <a:bodyPr wrap="square"/>
                    <a:lstStyle/>
                    <a:p>
                      <a:r>
                        <a:rPr sz="1200" b="0">
                          <a:solidFill>
                            <a:srgbClr val="2A2A2A"/>
                          </a:solidFill>
                          <a:latin typeface="Calibri"/>
                        </a:rPr>
                        <a:t>Open / Reveal / Copy / Select All</a:t>
                      </a:r>
                    </a:p>
                  </a:txBody>
                  <a:tcPr marL="64008" marR="64008" marT="27432" marB="27432" anchor="t">
                    <a:solidFill>
                      <a:srgbClr val="FFF7E9"/>
                    </a:solidFill>
                  </a:tcPr>
                </a:tc>
                <a:tc>
                  <a:txBody>
                    <a:bodyPr wrap="square"/>
                    <a:lstStyle/>
                    <a:p>
                      <a:r>
                        <a:rPr sz="1200" b="0">
                          <a:solidFill>
                            <a:srgbClr val="2A2A2A"/>
                          </a:solidFill>
                          <a:latin typeface="Calibri"/>
                        </a:rPr>
                        <a:t>Các nút thao tác trên kết quả đã chọn.</a:t>
                      </a:r>
                    </a:p>
                    <a:p>
                      <a:r>
                        <a:rPr sz="1100" i="1">
                          <a:solidFill>
                            <a:srgbClr val="6E6256"/>
                          </a:solidFill>
                          <a:latin typeface="Calibri"/>
                        </a:rPr>
                        <a:t>Buttons that act on the selected results.</a:t>
                      </a:r>
                    </a:p>
                  </a:txBody>
                  <a:tcPr marL="64008" marR="64008" marT="27432" marB="27432" anchor="t">
                    <a:solidFill>
                      <a:srgbClr val="FFF7E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5. Giao diện chính  (tiếp / cont.)</a:t>
            </a:r>
          </a:p>
          <a:p>
            <a:r>
              <a:rPr sz="1400" b="0" i="1">
                <a:solidFill>
                  <a:srgbClr val="F2C57B"/>
                </a:solidFill>
                <a:latin typeface="Calibri"/>
              </a:rPr>
              <a:t>Main window</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9</a:t>
            </a:r>
          </a:p>
        </p:txBody>
      </p:sp>
      <p:graphicFrame>
        <p:nvGraphicFramePr>
          <p:cNvPr id="9" name="Table 8"/>
          <p:cNvGraphicFramePr>
            <a:graphicFrameLocks noGrp="1"/>
          </p:cNvGraphicFramePr>
          <p:nvPr/>
        </p:nvGraphicFramePr>
        <p:xfrm>
          <a:off x="548640" y="1188720"/>
          <a:ext cx="11094415" cy="1373886"/>
        </p:xfrm>
        <a:graphic>
          <a:graphicData uri="http://schemas.openxmlformats.org/drawingml/2006/table">
            <a:tbl>
              <a:tblPr firstRow="0" bandRow="0">
                <a:tableStyleId>{5C22544A-7EE6-4342-B048-85BDC9FD1C3A}</a:tableStyleId>
              </a:tblPr>
              <a:tblGrid>
                <a:gridCol w="776609"/>
                <a:gridCol w="3661157"/>
                <a:gridCol w="6656649"/>
              </a:tblGrid>
              <a:tr h="457200">
                <a:tc>
                  <a:txBody>
                    <a:bodyPr wrap="square"/>
                    <a:lstStyle/>
                    <a:p>
                      <a:r>
                        <a:rPr sz="1200" b="1">
                          <a:solidFill>
                            <a:srgbClr val="FFFFFF"/>
                          </a:solidFill>
                          <a:latin typeface="Calibri"/>
                        </a:rPr>
                        <a:t>#</a:t>
                      </a:r>
                    </a:p>
                  </a:txBody>
                  <a:tcPr marL="64008" marR="64008" marT="27432" marB="27432" anchor="ctr">
                    <a:solidFill>
                      <a:srgbClr val="174349"/>
                    </a:solidFill>
                  </a:tcPr>
                </a:tc>
                <a:tc>
                  <a:txBody>
                    <a:bodyPr wrap="square"/>
                    <a:lstStyle/>
                    <a:p>
                      <a:r>
                        <a:rPr sz="1200" b="1">
                          <a:solidFill>
                            <a:srgbClr val="FFFFFF"/>
                          </a:solidFill>
                          <a:latin typeface="Calibri"/>
                        </a:rPr>
                        <a:t>Vùng</a:t>
                      </a:r>
                    </a:p>
                    <a:p>
                      <a:r>
                        <a:rPr sz="1100" i="1">
                          <a:solidFill>
                            <a:srgbClr val="E9DCC6"/>
                          </a:solidFill>
                          <a:latin typeface="Calibri"/>
                        </a:rPr>
                        <a:t>Area</a:t>
                      </a:r>
                    </a:p>
                  </a:txBody>
                  <a:tcPr marL="64008" marR="64008" marT="27432" marB="27432" anchor="ctr">
                    <a:solidFill>
                      <a:srgbClr val="174349"/>
                    </a:solidFill>
                  </a:tcPr>
                </a:tc>
                <a:tc>
                  <a:txBody>
                    <a:bodyPr wrap="square"/>
                    <a:lstStyle/>
                    <a:p>
                      <a:r>
                        <a:rPr sz="1200" b="1">
                          <a:solidFill>
                            <a:srgbClr val="FFFFFF"/>
                          </a:solidFill>
                          <a:latin typeface="Calibri"/>
                        </a:rPr>
                        <a:t>Chức năng</a:t>
                      </a:r>
                    </a:p>
                    <a:p>
                      <a:r>
                        <a:rPr sz="1100" i="1">
                          <a:solidFill>
                            <a:srgbClr val="E9DCC6"/>
                          </a:solidFill>
                          <a:latin typeface="Calibri"/>
                        </a:rPr>
                        <a:t>Function</a:t>
                      </a:r>
                    </a:p>
                  </a:txBody>
                  <a:tcPr marL="64008" marR="64008" marT="27432" marB="27432" anchor="ctr">
                    <a:solidFill>
                      <a:srgbClr val="174349"/>
                    </a:solidFill>
                  </a:tcPr>
                </a:tc>
              </a:tr>
              <a:tr h="458343">
                <a:tc>
                  <a:txBody>
                    <a:bodyPr wrap="square"/>
                    <a:lstStyle/>
                    <a:p>
                      <a:r>
                        <a:rPr sz="1200" b="1">
                          <a:solidFill>
                            <a:srgbClr val="2A2A2A"/>
                          </a:solidFill>
                          <a:latin typeface="Calibri"/>
                        </a:rPr>
                        <a:t>11</a:t>
                      </a:r>
                    </a:p>
                  </a:txBody>
                  <a:tcPr marL="64008" marR="64008" marT="27432" marB="27432" anchor="t">
                    <a:solidFill>
                      <a:srgbClr val="FFFDF8"/>
                    </a:solidFill>
                  </a:tcPr>
                </a:tc>
                <a:tc>
                  <a:txBody>
                    <a:bodyPr wrap="square"/>
                    <a:lstStyle/>
                    <a:p>
                      <a:r>
                        <a:rPr sz="1200" b="0">
                          <a:solidFill>
                            <a:srgbClr val="2A2A2A"/>
                          </a:solidFill>
                          <a:latin typeface="Calibri"/>
                        </a:rPr>
                        <a:t>Appearance</a:t>
                      </a:r>
                    </a:p>
                  </a:txBody>
                  <a:tcPr marL="64008" marR="64008" marT="27432" marB="27432" anchor="t">
                    <a:solidFill>
                      <a:srgbClr val="FFFDF8"/>
                    </a:solidFill>
                  </a:tcPr>
                </a:tc>
                <a:tc>
                  <a:txBody>
                    <a:bodyPr wrap="square"/>
                    <a:lstStyle/>
                    <a:p>
                      <a:r>
                        <a:rPr sz="1200" b="0">
                          <a:solidFill>
                            <a:srgbClr val="2A2A2A"/>
                          </a:solidFill>
                          <a:latin typeface="Calibri"/>
                        </a:rPr>
                        <a:t>Đổi giao diện màu ngay lập tức.</a:t>
                      </a:r>
                    </a:p>
                    <a:p>
                      <a:r>
                        <a:rPr sz="1100" i="1">
                          <a:solidFill>
                            <a:srgbClr val="6E6256"/>
                          </a:solidFill>
                          <a:latin typeface="Calibri"/>
                        </a:rPr>
                        <a:t>Change the colour theme instantly.</a:t>
                      </a:r>
                    </a:p>
                  </a:txBody>
                  <a:tcPr marL="64008" marR="64008" marT="27432" marB="27432" anchor="t">
                    <a:solidFill>
                      <a:srgbClr val="FFFDF8"/>
                    </a:solidFill>
                  </a:tcPr>
                </a:tc>
              </a:tr>
              <a:tr h="458343">
                <a:tc>
                  <a:txBody>
                    <a:bodyPr wrap="square"/>
                    <a:lstStyle/>
                    <a:p>
                      <a:r>
                        <a:rPr sz="1200" b="1">
                          <a:solidFill>
                            <a:srgbClr val="2A2A2A"/>
                          </a:solidFill>
                          <a:latin typeface="Calibri"/>
                        </a:rPr>
                        <a:t>12</a:t>
                      </a:r>
                    </a:p>
                  </a:txBody>
                  <a:tcPr marL="64008" marR="64008" marT="27432" marB="27432" anchor="t">
                    <a:solidFill>
                      <a:srgbClr val="FFF7E9"/>
                    </a:solidFill>
                  </a:tcPr>
                </a:tc>
                <a:tc>
                  <a:txBody>
                    <a:bodyPr wrap="square"/>
                    <a:lstStyle/>
                    <a:p>
                      <a:r>
                        <a:rPr sz="1200" b="0">
                          <a:solidFill>
                            <a:srgbClr val="2A2A2A"/>
                          </a:solidFill>
                          <a:latin typeface="Calibri"/>
                        </a:rPr>
                        <a:t>Chân trang</a:t>
                      </a:r>
                    </a:p>
                    <a:p>
                      <a:r>
                        <a:rPr sz="1100" i="1">
                          <a:solidFill>
                            <a:srgbClr val="6E6256"/>
                          </a:solidFill>
                          <a:latin typeface="Calibri"/>
                        </a:rPr>
                        <a:t>Footer</a:t>
                      </a:r>
                    </a:p>
                  </a:txBody>
                  <a:tcPr marL="64008" marR="64008" marT="27432" marB="27432" anchor="t">
                    <a:solidFill>
                      <a:srgbClr val="FFF7E9"/>
                    </a:solidFill>
                  </a:tcPr>
                </a:tc>
                <a:tc>
                  <a:txBody>
                    <a:bodyPr wrap="square"/>
                    <a:lstStyle/>
                    <a:p>
                      <a:r>
                        <a:rPr sz="1200" b="0">
                          <a:solidFill>
                            <a:srgbClr val="2A2A2A"/>
                          </a:solidFill>
                          <a:latin typeface="Calibri"/>
                        </a:rPr>
                        <a:t>Liên kết website, Zalo và nút Donate.</a:t>
                      </a:r>
                    </a:p>
                    <a:p>
                      <a:r>
                        <a:rPr sz="1100" i="1">
                          <a:solidFill>
                            <a:srgbClr val="6E6256"/>
                          </a:solidFill>
                          <a:latin typeface="Calibri"/>
                        </a:rPr>
                        <a:t>Website and Zalo links and the Donate buttons.</a:t>
                      </a:r>
                    </a:p>
                  </a:txBody>
                  <a:tcPr marL="64008" marR="64008" marT="27432" marB="27432" anchor="t">
                    <a:solidFill>
                      <a:srgbClr val="FFF7E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6. Quy trình thực hiện</a:t>
            </a:r>
          </a:p>
          <a:p>
            <a:r>
              <a:rPr sz="1400" b="0" i="1">
                <a:solidFill>
                  <a:srgbClr val="F2C57B"/>
                </a:solidFill>
                <a:latin typeface="Calibri"/>
              </a:rPr>
              <a:t>Procedure</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10</a:t>
            </a:r>
          </a:p>
        </p:txBody>
      </p:sp>
      <p:sp>
        <p:nvSpPr>
          <p:cNvPr id="9" name="Rectangle 8"/>
          <p:cNvSpPr/>
          <p:nvPr/>
        </p:nvSpPr>
        <p:spPr>
          <a:xfrm>
            <a:off x="548640" y="1188720"/>
            <a:ext cx="11094415" cy="384048"/>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188720"/>
            <a:ext cx="64008" cy="384048"/>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188720"/>
            <a:ext cx="11002975" cy="384048"/>
          </a:xfrm>
          <a:prstGeom prst="rect">
            <a:avLst/>
          </a:prstGeom>
          <a:noFill/>
        </p:spPr>
        <p:txBody>
          <a:bodyPr wrap="square" anchor="ctr" lIns="73152" rIns="73152" tIns="27432" bIns="27432">
            <a:spAutoFit/>
          </a:bodyPr>
          <a:lstStyle/>
          <a:p>
            <a:r>
              <a:rPr sz="1500" b="1" i="0">
                <a:solidFill>
                  <a:srgbClr val="174349"/>
                </a:solidFill>
                <a:latin typeface="Calibri"/>
              </a:rPr>
              <a:t>6.1  Khởi động</a:t>
            </a:r>
            <a:r>
              <a:rPr sz="1200" i="1">
                <a:solidFill>
                  <a:srgbClr val="6E6256"/>
                </a:solidFill>
                <a:latin typeface="Calibri"/>
              </a:rPr>
              <a:t>   /   Start the application</a:t>
            </a:r>
          </a:p>
        </p:txBody>
      </p:sp>
      <p:sp>
        <p:nvSpPr>
          <p:cNvPr id="12" name="Oval 11"/>
          <p:cNvSpPr/>
          <p:nvPr/>
        </p:nvSpPr>
        <p:spPr>
          <a:xfrm>
            <a:off x="548640" y="1700784"/>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1</a:t>
            </a:r>
          </a:p>
        </p:txBody>
      </p:sp>
      <p:sp>
        <p:nvSpPr>
          <p:cNvPr id="13" name="TextBox 12"/>
          <p:cNvSpPr txBox="1"/>
          <p:nvPr/>
        </p:nvSpPr>
        <p:spPr>
          <a:xfrm>
            <a:off x="1005840" y="1664208"/>
            <a:ext cx="5204307" cy="363220"/>
          </a:xfrm>
          <a:prstGeom prst="rect">
            <a:avLst/>
          </a:prstGeom>
          <a:noFill/>
        </p:spPr>
        <p:txBody>
          <a:bodyPr wrap="square" anchor="t" lIns="73152" rIns="73152" tIns="27432" bIns="27432">
            <a:spAutoFit/>
          </a:bodyPr>
          <a:lstStyle/>
          <a:p>
            <a:r>
              <a:rPr sz="1400" b="0" i="0">
                <a:solidFill>
                  <a:srgbClr val="2A2A2A"/>
                </a:solidFill>
                <a:latin typeface="Calibri"/>
              </a:rPr>
              <a:t>Nhấp đúp Universal_Text_Search_v8.exe.</a:t>
            </a:r>
          </a:p>
        </p:txBody>
      </p:sp>
      <p:sp>
        <p:nvSpPr>
          <p:cNvPr id="14" name="TextBox 13"/>
          <p:cNvSpPr txBox="1"/>
          <p:nvPr/>
        </p:nvSpPr>
        <p:spPr>
          <a:xfrm>
            <a:off x="6438747" y="1664208"/>
            <a:ext cx="5204307" cy="363220"/>
          </a:xfrm>
          <a:prstGeom prst="rect">
            <a:avLst/>
          </a:prstGeom>
          <a:noFill/>
        </p:spPr>
        <p:txBody>
          <a:bodyPr wrap="square" anchor="t" lIns="73152" rIns="73152" tIns="27432" bIns="27432">
            <a:spAutoFit/>
          </a:bodyPr>
          <a:lstStyle/>
          <a:p>
            <a:r>
              <a:rPr sz="1250" b="0" i="1">
                <a:solidFill>
                  <a:srgbClr val="6E6256"/>
                </a:solidFill>
                <a:latin typeface="Calibri"/>
              </a:rPr>
              <a:t>Double-click Universal_Text_Search_v8.exe.</a:t>
            </a:r>
          </a:p>
        </p:txBody>
      </p:sp>
      <p:sp>
        <p:nvSpPr>
          <p:cNvPr id="15" name="Oval 14"/>
          <p:cNvSpPr/>
          <p:nvPr/>
        </p:nvSpPr>
        <p:spPr>
          <a:xfrm>
            <a:off x="548640" y="2118868"/>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2</a:t>
            </a:r>
          </a:p>
        </p:txBody>
      </p:sp>
      <p:sp>
        <p:nvSpPr>
          <p:cNvPr id="16" name="TextBox 15"/>
          <p:cNvSpPr txBox="1"/>
          <p:nvPr/>
        </p:nvSpPr>
        <p:spPr>
          <a:xfrm>
            <a:off x="1005840" y="2082291"/>
            <a:ext cx="5204307" cy="797052"/>
          </a:xfrm>
          <a:prstGeom prst="rect">
            <a:avLst/>
          </a:prstGeom>
          <a:noFill/>
        </p:spPr>
        <p:txBody>
          <a:bodyPr wrap="square" anchor="t" lIns="73152" rIns="73152" tIns="27432" bIns="27432">
            <a:spAutoFit/>
          </a:bodyPr>
          <a:lstStyle/>
          <a:p>
            <a:r>
              <a:rPr sz="1400" b="0" i="0">
                <a:solidFill>
                  <a:srgbClr val="2A2A2A"/>
                </a:solidFill>
                <a:latin typeface="Calibri"/>
              </a:rPr>
              <a:t>Chờ vài giây ở lần mở (ứng dụng tự giải nén). Nếu Windows SmartScreen hiện cảnh báo và tệp đến từ nguồn tin cậy: chọn More info → Run anyway.</a:t>
            </a:r>
          </a:p>
        </p:txBody>
      </p:sp>
      <p:sp>
        <p:nvSpPr>
          <p:cNvPr id="17" name="TextBox 16"/>
          <p:cNvSpPr txBox="1"/>
          <p:nvPr/>
        </p:nvSpPr>
        <p:spPr>
          <a:xfrm>
            <a:off x="6438747" y="2082291"/>
            <a:ext cx="5204307" cy="797052"/>
          </a:xfrm>
          <a:prstGeom prst="rect">
            <a:avLst/>
          </a:prstGeom>
          <a:noFill/>
        </p:spPr>
        <p:txBody>
          <a:bodyPr wrap="square" anchor="t" lIns="73152" rIns="73152" tIns="27432" bIns="27432">
            <a:spAutoFit/>
          </a:bodyPr>
          <a:lstStyle/>
          <a:p>
            <a:r>
              <a:rPr sz="1250" b="0" i="1">
                <a:solidFill>
                  <a:srgbClr val="6E6256"/>
                </a:solidFill>
                <a:latin typeface="Calibri"/>
              </a:rPr>
              <a:t>Wait a few seconds on launch (the app unpacks itself). If Windows SmartScreen warns and the file comes from a trusted source: choose More info → Run anyway.</a:t>
            </a:r>
          </a:p>
        </p:txBody>
      </p:sp>
      <p:sp>
        <p:nvSpPr>
          <p:cNvPr id="18" name="Oval 17"/>
          <p:cNvSpPr/>
          <p:nvPr/>
        </p:nvSpPr>
        <p:spPr>
          <a:xfrm>
            <a:off x="548640" y="2970784"/>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3</a:t>
            </a:r>
          </a:p>
        </p:txBody>
      </p:sp>
      <p:sp>
        <p:nvSpPr>
          <p:cNvPr id="19" name="TextBox 18"/>
          <p:cNvSpPr txBox="1"/>
          <p:nvPr/>
        </p:nvSpPr>
        <p:spPr>
          <a:xfrm>
            <a:off x="1005840" y="2934208"/>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Cửa sổ “Universal Text Search v8 — PharmApp” mở ở tab Search v8.</a:t>
            </a:r>
          </a:p>
        </p:txBody>
      </p:sp>
      <p:sp>
        <p:nvSpPr>
          <p:cNvPr id="20" name="TextBox 19"/>
          <p:cNvSpPr txBox="1"/>
          <p:nvPr/>
        </p:nvSpPr>
        <p:spPr>
          <a:xfrm>
            <a:off x="6438747" y="2934208"/>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The “Universal Text Search v8 — PharmApp” window opens on the Search v8 tab.</a:t>
            </a:r>
          </a:p>
        </p:txBody>
      </p:sp>
      <p:sp>
        <p:nvSpPr>
          <p:cNvPr id="21" name="Rectangle 20"/>
          <p:cNvSpPr/>
          <p:nvPr/>
        </p:nvSpPr>
        <p:spPr>
          <a:xfrm>
            <a:off x="548640" y="3569208"/>
            <a:ext cx="11094415" cy="384048"/>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569208"/>
            <a:ext cx="64008" cy="384048"/>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569208"/>
            <a:ext cx="11002975" cy="384048"/>
          </a:xfrm>
          <a:prstGeom prst="rect">
            <a:avLst/>
          </a:prstGeom>
          <a:noFill/>
        </p:spPr>
        <p:txBody>
          <a:bodyPr wrap="square" anchor="ctr" lIns="73152" rIns="73152" tIns="27432" bIns="27432">
            <a:spAutoFit/>
          </a:bodyPr>
          <a:lstStyle/>
          <a:p>
            <a:r>
              <a:rPr sz="1500" b="1" i="0">
                <a:solidFill>
                  <a:srgbClr val="174349"/>
                </a:solidFill>
                <a:latin typeface="Calibri"/>
              </a:rPr>
              <a:t>6.2  Thêm thư mục và lập chỉ mục lần đầu</a:t>
            </a:r>
            <a:r>
              <a:rPr sz="1200" i="1">
                <a:solidFill>
                  <a:srgbClr val="6E6256"/>
                </a:solidFill>
                <a:latin typeface="Calibri"/>
              </a:rPr>
              <a:t>   /   Add folders and build the index (first time)</a:t>
            </a:r>
          </a:p>
        </p:txBody>
      </p:sp>
      <p:sp>
        <p:nvSpPr>
          <p:cNvPr id="24" name="Oval 23"/>
          <p:cNvSpPr/>
          <p:nvPr/>
        </p:nvSpPr>
        <p:spPr>
          <a:xfrm>
            <a:off x="548640" y="4081272"/>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1</a:t>
            </a:r>
          </a:p>
        </p:txBody>
      </p:sp>
      <p:sp>
        <p:nvSpPr>
          <p:cNvPr id="25" name="TextBox 24"/>
          <p:cNvSpPr txBox="1"/>
          <p:nvPr/>
        </p:nvSpPr>
        <p:spPr>
          <a:xfrm>
            <a:off x="1005840" y="4044696"/>
            <a:ext cx="5204307" cy="797052"/>
          </a:xfrm>
          <a:prstGeom prst="rect">
            <a:avLst/>
          </a:prstGeom>
          <a:noFill/>
        </p:spPr>
        <p:txBody>
          <a:bodyPr wrap="square" anchor="t" lIns="73152" rIns="73152" tIns="27432" bIns="27432">
            <a:spAutoFit/>
          </a:bodyPr>
          <a:lstStyle/>
          <a:p>
            <a:r>
              <a:rPr sz="1400" b="0" i="0">
                <a:solidFill>
                  <a:srgbClr val="2A2A2A"/>
                </a:solidFill>
                <a:latin typeface="Calibri"/>
              </a:rPr>
              <a:t>Bấm Add Folder (Ctrl+O), chọn thư mục. Đường dẫn xuất hiện ở ô (7). Lặp lại cho nhiều thư mục, hoặc dùng Paste Paths để dán nhiều đường dẫn.</a:t>
            </a:r>
          </a:p>
        </p:txBody>
      </p:sp>
      <p:sp>
        <p:nvSpPr>
          <p:cNvPr id="26" name="TextBox 25"/>
          <p:cNvSpPr txBox="1"/>
          <p:nvPr/>
        </p:nvSpPr>
        <p:spPr>
          <a:xfrm>
            <a:off x="6438747" y="4044696"/>
            <a:ext cx="5204307" cy="797052"/>
          </a:xfrm>
          <a:prstGeom prst="rect">
            <a:avLst/>
          </a:prstGeom>
          <a:noFill/>
        </p:spPr>
        <p:txBody>
          <a:bodyPr wrap="square" anchor="t" lIns="73152" rIns="73152" tIns="27432" bIns="27432">
            <a:spAutoFit/>
          </a:bodyPr>
          <a:lstStyle/>
          <a:p>
            <a:r>
              <a:rPr sz="1250" b="0" i="1">
                <a:solidFill>
                  <a:srgbClr val="6E6256"/>
                </a:solidFill>
                <a:latin typeface="Calibri"/>
              </a:rPr>
              <a:t>Click Add Folder (Ctrl+O) and pick a folder. The path appears in box (7). Repeat for more folders, or use Paste Paths to paste several paths.</a:t>
            </a:r>
          </a:p>
        </p:txBody>
      </p:sp>
      <p:sp>
        <p:nvSpPr>
          <p:cNvPr id="27" name="Oval 26"/>
          <p:cNvSpPr/>
          <p:nvPr/>
        </p:nvSpPr>
        <p:spPr>
          <a:xfrm>
            <a:off x="548640" y="4933188"/>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2</a:t>
            </a:r>
          </a:p>
        </p:txBody>
      </p:sp>
      <p:sp>
        <p:nvSpPr>
          <p:cNvPr id="28" name="TextBox 27"/>
          <p:cNvSpPr txBox="1"/>
          <p:nvPr/>
        </p:nvSpPr>
        <p:spPr>
          <a:xfrm>
            <a:off x="1005840" y="4896612"/>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Giữ nguyên dấu tick Use Index (FTS) (5) và tick các loại tệp cần tìm (6).</a:t>
            </a:r>
          </a:p>
        </p:txBody>
      </p:sp>
      <p:sp>
        <p:nvSpPr>
          <p:cNvPr id="29" name="TextBox 28"/>
          <p:cNvSpPr txBox="1"/>
          <p:nvPr/>
        </p:nvSpPr>
        <p:spPr>
          <a:xfrm>
            <a:off x="6438747" y="4896612"/>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Keep Use Index (FTS) (5) ticked and tick the file types you need (6).</a:t>
            </a:r>
          </a:p>
        </p:txBody>
      </p:sp>
      <p:sp>
        <p:nvSpPr>
          <p:cNvPr id="30" name="Oval 29"/>
          <p:cNvSpPr/>
          <p:nvPr/>
        </p:nvSpPr>
        <p:spPr>
          <a:xfrm>
            <a:off x="548640" y="5568188"/>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3</a:t>
            </a:r>
          </a:p>
        </p:txBody>
      </p:sp>
      <p:sp>
        <p:nvSpPr>
          <p:cNvPr id="31" name="TextBox 30"/>
          <p:cNvSpPr txBox="1"/>
          <p:nvPr/>
        </p:nvSpPr>
        <p:spPr>
          <a:xfrm>
            <a:off x="1005840" y="5531612"/>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Bấm Update Index (Ctrl+U). Thanh trạng thái hiện “Indexing […]”.</a:t>
            </a:r>
          </a:p>
        </p:txBody>
      </p:sp>
      <p:sp>
        <p:nvSpPr>
          <p:cNvPr id="32" name="TextBox 31"/>
          <p:cNvSpPr txBox="1"/>
          <p:nvPr/>
        </p:nvSpPr>
        <p:spPr>
          <a:xfrm>
            <a:off x="6438747" y="5531612"/>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Click Update Index (Ctrl+U). The status bar shows “Indexing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6. Quy trình thực hiện  (tiếp / cont.)</a:t>
            </a:r>
          </a:p>
          <a:p>
            <a:r>
              <a:rPr sz="1400" b="0" i="1">
                <a:solidFill>
                  <a:srgbClr val="F2C57B"/>
                </a:solidFill>
                <a:latin typeface="Calibri"/>
              </a:rPr>
              <a:t>Procedure</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11</a:t>
            </a:r>
          </a:p>
        </p:txBody>
      </p:sp>
      <p:sp>
        <p:nvSpPr>
          <p:cNvPr id="9" name="Oval 8"/>
          <p:cNvSpPr/>
          <p:nvPr/>
        </p:nvSpPr>
        <p:spPr>
          <a:xfrm>
            <a:off x="548640" y="1225296"/>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4</a:t>
            </a:r>
          </a:p>
        </p:txBody>
      </p:sp>
      <p:sp>
        <p:nvSpPr>
          <p:cNvPr id="10" name="TextBox 9"/>
          <p:cNvSpPr txBox="1"/>
          <p:nvPr/>
        </p:nvSpPr>
        <p:spPr>
          <a:xfrm>
            <a:off x="1005840" y="1188720"/>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Đợi dòng “Index updated. Scanned X, changed Y.” Có thể nhấn Esc để huỷ.</a:t>
            </a:r>
          </a:p>
        </p:txBody>
      </p:sp>
      <p:sp>
        <p:nvSpPr>
          <p:cNvPr id="11" name="TextBox 10"/>
          <p:cNvSpPr txBox="1"/>
          <p:nvPr/>
        </p:nvSpPr>
        <p:spPr>
          <a:xfrm>
            <a:off x="6438747" y="1188720"/>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Wait for “Index updated. Scanned X, changed Y.” Press Esc to cancel.</a:t>
            </a:r>
          </a:p>
        </p:txBody>
      </p:sp>
      <p:sp>
        <p:nvSpPr>
          <p:cNvPr id="12" name="Rectangle 11"/>
          <p:cNvSpPr/>
          <p:nvPr/>
        </p:nvSpPr>
        <p:spPr>
          <a:xfrm>
            <a:off x="548640" y="1823720"/>
            <a:ext cx="11094415" cy="737616"/>
          </a:xfrm>
          <a:prstGeom prst="rect">
            <a:avLst/>
          </a:prstGeom>
          <a:solidFill>
            <a:srgbClr val="FFF7E9"/>
          </a:solidFill>
          <a:ln w="15875">
            <a:solidFill>
              <a:srgbClr val="E89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823720"/>
            <a:ext cx="91440" cy="737616"/>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842008"/>
            <a:ext cx="5295747" cy="228600"/>
          </a:xfrm>
          <a:prstGeom prst="rect">
            <a:avLst/>
          </a:prstGeom>
          <a:noFill/>
        </p:spPr>
        <p:txBody>
          <a:bodyPr wrap="square" anchor="t" lIns="73152" rIns="73152" tIns="27432" bIns="27432">
            <a:spAutoFit/>
          </a:bodyPr>
          <a:lstStyle/>
          <a:p>
            <a:r>
              <a:rPr sz="1000" b="1" i="0">
                <a:solidFill>
                  <a:srgbClr val="E89E3A"/>
                </a:solidFill>
                <a:latin typeface="Calibri"/>
              </a:rPr>
              <a:t>Mẹo / Tip</a:t>
            </a:r>
          </a:p>
        </p:txBody>
      </p:sp>
      <p:sp>
        <p:nvSpPr>
          <p:cNvPr id="15" name="TextBox 14"/>
          <p:cNvSpPr txBox="1"/>
          <p:nvPr/>
        </p:nvSpPr>
        <p:spPr>
          <a:xfrm>
            <a:off x="731520" y="2043176"/>
            <a:ext cx="5295747" cy="499871"/>
          </a:xfrm>
          <a:prstGeom prst="rect">
            <a:avLst/>
          </a:prstGeom>
          <a:noFill/>
        </p:spPr>
        <p:txBody>
          <a:bodyPr wrap="square" anchor="t" lIns="73152" rIns="73152" tIns="27432" bIns="27432">
            <a:spAutoFit/>
          </a:bodyPr>
          <a:lstStyle/>
          <a:p>
            <a:r>
              <a:rPr sz="1200" b="0" i="0">
                <a:solidFill>
                  <a:srgbClr val="2A2A2A"/>
                </a:solidFill>
                <a:latin typeface="Calibri"/>
              </a:rPr>
              <a:t>Chỉ cần lập chỉ mục một lần cho mỗi thư mục. Các lần sau chỉ tệp thay đổi được đọc lại.</a:t>
            </a:r>
          </a:p>
        </p:txBody>
      </p:sp>
      <p:sp>
        <p:nvSpPr>
          <p:cNvPr id="16" name="TextBox 15"/>
          <p:cNvSpPr txBox="1"/>
          <p:nvPr/>
        </p:nvSpPr>
        <p:spPr>
          <a:xfrm>
            <a:off x="6255867" y="2043176"/>
            <a:ext cx="5295747" cy="499871"/>
          </a:xfrm>
          <a:prstGeom prst="rect">
            <a:avLst/>
          </a:prstGeom>
          <a:noFill/>
        </p:spPr>
        <p:txBody>
          <a:bodyPr wrap="square" anchor="t" lIns="73152" rIns="73152" tIns="27432" bIns="27432">
            <a:spAutoFit/>
          </a:bodyPr>
          <a:lstStyle/>
          <a:p>
            <a:r>
              <a:rPr sz="1050" b="0" i="1">
                <a:solidFill>
                  <a:srgbClr val="6E6256"/>
                </a:solidFill>
                <a:latin typeface="Calibri"/>
              </a:rPr>
              <a:t>Index each folder once. Later runs only re-read files that changed.</a:t>
            </a:r>
          </a:p>
        </p:txBody>
      </p:sp>
      <p:sp>
        <p:nvSpPr>
          <p:cNvPr id="17" name="Rectangle 16"/>
          <p:cNvSpPr/>
          <p:nvPr/>
        </p:nvSpPr>
        <p:spPr>
          <a:xfrm>
            <a:off x="548640" y="2671064"/>
            <a:ext cx="11094415" cy="384048"/>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671064"/>
            <a:ext cx="64008" cy="384048"/>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671064"/>
            <a:ext cx="11002975" cy="384048"/>
          </a:xfrm>
          <a:prstGeom prst="rect">
            <a:avLst/>
          </a:prstGeom>
          <a:noFill/>
        </p:spPr>
        <p:txBody>
          <a:bodyPr wrap="square" anchor="ctr" lIns="73152" rIns="73152" tIns="27432" bIns="27432">
            <a:spAutoFit/>
          </a:bodyPr>
          <a:lstStyle/>
          <a:p>
            <a:r>
              <a:rPr sz="1500" b="1" i="0">
                <a:solidFill>
                  <a:srgbClr val="174349"/>
                </a:solidFill>
                <a:latin typeface="Calibri"/>
              </a:rPr>
              <a:t>6.3  Tìm kiếm bằng chỉ mục (nhanh)</a:t>
            </a:r>
            <a:r>
              <a:rPr sz="1200" i="1">
                <a:solidFill>
                  <a:srgbClr val="6E6256"/>
                </a:solidFill>
                <a:latin typeface="Calibri"/>
              </a:rPr>
              <a:t>   /   Search with the index (fast)</a:t>
            </a:r>
          </a:p>
        </p:txBody>
      </p:sp>
      <p:sp>
        <p:nvSpPr>
          <p:cNvPr id="20" name="Oval 19"/>
          <p:cNvSpPr/>
          <p:nvPr/>
        </p:nvSpPr>
        <p:spPr>
          <a:xfrm>
            <a:off x="548640" y="3183128"/>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1</a:t>
            </a:r>
          </a:p>
        </p:txBody>
      </p:sp>
      <p:sp>
        <p:nvSpPr>
          <p:cNvPr id="21" name="TextBox 20"/>
          <p:cNvSpPr txBox="1"/>
          <p:nvPr/>
        </p:nvSpPr>
        <p:spPr>
          <a:xfrm>
            <a:off x="1005840" y="3146552"/>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Gõ từ khoá vào ô (1). Có thể gõ không dấu: “thuoc nho mat” vẫn tìm được “Thuốc nhỏ mắt”.</a:t>
            </a:r>
          </a:p>
        </p:txBody>
      </p:sp>
      <p:sp>
        <p:nvSpPr>
          <p:cNvPr id="22" name="TextBox 21"/>
          <p:cNvSpPr txBox="1"/>
          <p:nvPr/>
        </p:nvSpPr>
        <p:spPr>
          <a:xfrm>
            <a:off x="6438747" y="3146552"/>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Type the keyword in (1). Accents are optional: “thuoc nho mat” still finds “Thuốc nhỏ mắt”.</a:t>
            </a:r>
          </a:p>
        </p:txBody>
      </p:sp>
      <p:sp>
        <p:nvSpPr>
          <p:cNvPr id="23" name="Oval 22"/>
          <p:cNvSpPr/>
          <p:nvPr/>
        </p:nvSpPr>
        <p:spPr>
          <a:xfrm>
            <a:off x="548640" y="3818128"/>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2</a:t>
            </a:r>
          </a:p>
        </p:txBody>
      </p:sp>
      <p:sp>
        <p:nvSpPr>
          <p:cNvPr id="24" name="TextBox 23"/>
          <p:cNvSpPr txBox="1"/>
          <p:nvPr/>
        </p:nvSpPr>
        <p:spPr>
          <a:xfrm>
            <a:off x="1005840" y="3781552"/>
            <a:ext cx="5204307" cy="363220"/>
          </a:xfrm>
          <a:prstGeom prst="rect">
            <a:avLst/>
          </a:prstGeom>
          <a:noFill/>
        </p:spPr>
        <p:txBody>
          <a:bodyPr wrap="square" anchor="t" lIns="73152" rIns="73152" tIns="27432" bIns="27432">
            <a:spAutoFit/>
          </a:bodyPr>
          <a:lstStyle/>
          <a:p>
            <a:r>
              <a:rPr sz="1400" b="0" i="0">
                <a:solidFill>
                  <a:srgbClr val="2A2A2A"/>
                </a:solidFill>
                <a:latin typeface="Calibri"/>
              </a:rPr>
              <a:t>(Tuỳ chọn) đặt From/To (4) theo dạng YYYY-MM-DD.</a:t>
            </a:r>
          </a:p>
        </p:txBody>
      </p:sp>
      <p:sp>
        <p:nvSpPr>
          <p:cNvPr id="25" name="TextBox 24"/>
          <p:cNvSpPr txBox="1"/>
          <p:nvPr/>
        </p:nvSpPr>
        <p:spPr>
          <a:xfrm>
            <a:off x="6438747" y="3781552"/>
            <a:ext cx="5204307" cy="363220"/>
          </a:xfrm>
          <a:prstGeom prst="rect">
            <a:avLst/>
          </a:prstGeom>
          <a:noFill/>
        </p:spPr>
        <p:txBody>
          <a:bodyPr wrap="square" anchor="t" lIns="73152" rIns="73152" tIns="27432" bIns="27432">
            <a:spAutoFit/>
          </a:bodyPr>
          <a:lstStyle/>
          <a:p>
            <a:r>
              <a:rPr sz="1250" b="0" i="1">
                <a:solidFill>
                  <a:srgbClr val="6E6256"/>
                </a:solidFill>
                <a:latin typeface="Calibri"/>
              </a:rPr>
              <a:t>(Optional) set From/To (4) as YYYY-MM-DD.</a:t>
            </a:r>
          </a:p>
        </p:txBody>
      </p:sp>
      <p:sp>
        <p:nvSpPr>
          <p:cNvPr id="26" name="Oval 25"/>
          <p:cNvSpPr/>
          <p:nvPr/>
        </p:nvSpPr>
        <p:spPr>
          <a:xfrm>
            <a:off x="548640" y="4236212"/>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3</a:t>
            </a:r>
          </a:p>
        </p:txBody>
      </p:sp>
      <p:sp>
        <p:nvSpPr>
          <p:cNvPr id="27" name="TextBox 26"/>
          <p:cNvSpPr txBox="1"/>
          <p:nvPr/>
        </p:nvSpPr>
        <p:spPr>
          <a:xfrm>
            <a:off x="1005840" y="4199636"/>
            <a:ext cx="5204307" cy="363220"/>
          </a:xfrm>
          <a:prstGeom prst="rect">
            <a:avLst/>
          </a:prstGeom>
          <a:noFill/>
        </p:spPr>
        <p:txBody>
          <a:bodyPr wrap="square" anchor="t" lIns="73152" rIns="73152" tIns="27432" bIns="27432">
            <a:spAutoFit/>
          </a:bodyPr>
          <a:lstStyle/>
          <a:p>
            <a:r>
              <a:rPr sz="1400" b="0" i="0">
                <a:solidFill>
                  <a:srgbClr val="2A2A2A"/>
                </a:solidFill>
                <a:latin typeface="Calibri"/>
              </a:rPr>
              <a:t>Nhấn Enter hoặc bấm Search (3).</a:t>
            </a:r>
          </a:p>
        </p:txBody>
      </p:sp>
      <p:sp>
        <p:nvSpPr>
          <p:cNvPr id="28" name="TextBox 27"/>
          <p:cNvSpPr txBox="1"/>
          <p:nvPr/>
        </p:nvSpPr>
        <p:spPr>
          <a:xfrm>
            <a:off x="6438747" y="4199636"/>
            <a:ext cx="5204307" cy="363220"/>
          </a:xfrm>
          <a:prstGeom prst="rect">
            <a:avLst/>
          </a:prstGeom>
          <a:noFill/>
        </p:spPr>
        <p:txBody>
          <a:bodyPr wrap="square" anchor="t" lIns="73152" rIns="73152" tIns="27432" bIns="27432">
            <a:spAutoFit/>
          </a:bodyPr>
          <a:lstStyle/>
          <a:p>
            <a:r>
              <a:rPr sz="1250" b="0" i="1">
                <a:solidFill>
                  <a:srgbClr val="6E6256"/>
                </a:solidFill>
                <a:latin typeface="Calibri"/>
              </a:rPr>
              <a:t>Press Enter or click Search (3).</a:t>
            </a:r>
          </a:p>
        </p:txBody>
      </p:sp>
      <p:sp>
        <p:nvSpPr>
          <p:cNvPr id="29" name="Oval 28"/>
          <p:cNvSpPr/>
          <p:nvPr/>
        </p:nvSpPr>
        <p:spPr>
          <a:xfrm>
            <a:off x="548640" y="4654296"/>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4</a:t>
            </a:r>
          </a:p>
        </p:txBody>
      </p:sp>
      <p:sp>
        <p:nvSpPr>
          <p:cNvPr id="30" name="TextBox 29"/>
          <p:cNvSpPr txBox="1"/>
          <p:nvPr/>
        </p:nvSpPr>
        <p:spPr>
          <a:xfrm>
            <a:off x="1005840" y="4617720"/>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Thanh trạng thái hiện “FTS: n result(s)”. Kết quả mới nhất ở trên, tối đa 3000 dòng.</a:t>
            </a:r>
          </a:p>
        </p:txBody>
      </p:sp>
      <p:sp>
        <p:nvSpPr>
          <p:cNvPr id="31" name="TextBox 30"/>
          <p:cNvSpPr txBox="1"/>
          <p:nvPr/>
        </p:nvSpPr>
        <p:spPr>
          <a:xfrm>
            <a:off x="6438747" y="4617720"/>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The status bar shows “FTS: n result(s)”. Newest results first, up to 3000 rows.</a:t>
            </a:r>
          </a:p>
        </p:txBody>
      </p:sp>
      <p:sp>
        <p:nvSpPr>
          <p:cNvPr id="32" name="Oval 31"/>
          <p:cNvSpPr/>
          <p:nvPr/>
        </p:nvSpPr>
        <p:spPr>
          <a:xfrm>
            <a:off x="548640" y="5289296"/>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5</a:t>
            </a:r>
          </a:p>
        </p:txBody>
      </p:sp>
      <p:sp>
        <p:nvSpPr>
          <p:cNvPr id="33" name="TextBox 32"/>
          <p:cNvSpPr txBox="1"/>
          <p:nvPr/>
        </p:nvSpPr>
        <p:spPr>
          <a:xfrm>
            <a:off x="1005840" y="5252720"/>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Muốn gọn hơn: thêm từ khoá, bỏ bớt loại tệp, thu hẹp ngày hoặc thư mục.</a:t>
            </a:r>
          </a:p>
        </p:txBody>
      </p:sp>
      <p:sp>
        <p:nvSpPr>
          <p:cNvPr id="34" name="TextBox 33"/>
          <p:cNvSpPr txBox="1"/>
          <p:nvPr/>
        </p:nvSpPr>
        <p:spPr>
          <a:xfrm>
            <a:off x="6438747" y="5252720"/>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To narrow down: add keywords, untick file types, or limit dates/folders.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6. Quy trình thực hiện  (tiếp / cont.)</a:t>
            </a:r>
          </a:p>
          <a:p>
            <a:r>
              <a:rPr sz="1400" b="0" i="1">
                <a:solidFill>
                  <a:srgbClr val="F2C57B"/>
                </a:solidFill>
                <a:latin typeface="Calibri"/>
              </a:rPr>
              <a:t>Procedure</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12</a:t>
            </a:r>
          </a:p>
        </p:txBody>
      </p:sp>
      <p:sp>
        <p:nvSpPr>
          <p:cNvPr id="9" name="Rectangle 8"/>
          <p:cNvSpPr/>
          <p:nvPr/>
        </p:nvSpPr>
        <p:spPr>
          <a:xfrm>
            <a:off x="548640" y="1188720"/>
            <a:ext cx="11094415" cy="384048"/>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188720"/>
            <a:ext cx="64008" cy="384048"/>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188720"/>
            <a:ext cx="11002975" cy="384048"/>
          </a:xfrm>
          <a:prstGeom prst="rect">
            <a:avLst/>
          </a:prstGeom>
          <a:noFill/>
        </p:spPr>
        <p:txBody>
          <a:bodyPr wrap="square" anchor="ctr" lIns="73152" rIns="73152" tIns="27432" bIns="27432">
            <a:spAutoFit/>
          </a:bodyPr>
          <a:lstStyle/>
          <a:p>
            <a:r>
              <a:rPr sz="1500" b="1" i="0">
                <a:solidFill>
                  <a:srgbClr val="174349"/>
                </a:solidFill>
                <a:latin typeface="Calibri"/>
              </a:rPr>
              <a:t>6.4  Cú pháp tìm nâng cao (khi dùng chỉ mục)</a:t>
            </a:r>
            <a:r>
              <a:rPr sz="1200" i="1">
                <a:solidFill>
                  <a:srgbClr val="6E6256"/>
                </a:solidFill>
                <a:latin typeface="Calibri"/>
              </a:rPr>
              <a:t>   /   Advanced syntax (when using the index)</a:t>
            </a:r>
          </a:p>
        </p:txBody>
      </p:sp>
      <p:graphicFrame>
        <p:nvGraphicFramePr>
          <p:cNvPr id="12" name="Table 11"/>
          <p:cNvGraphicFramePr>
            <a:graphicFrameLocks noGrp="1"/>
          </p:cNvGraphicFramePr>
          <p:nvPr/>
        </p:nvGraphicFramePr>
        <p:xfrm>
          <a:off x="548640" y="1664208"/>
          <a:ext cx="11094414" cy="2748915"/>
        </p:xfrm>
        <a:graphic>
          <a:graphicData uri="http://schemas.openxmlformats.org/drawingml/2006/table">
            <a:tbl>
              <a:tblPr firstRow="0" bandRow="0">
                <a:tableStyleId>{5C22544A-7EE6-4342-B048-85BDC9FD1C3A}</a:tableStyleId>
              </a:tblPr>
              <a:tblGrid>
                <a:gridCol w="3328324"/>
                <a:gridCol w="7766090"/>
              </a:tblGrid>
              <a:tr h="457200">
                <a:tc>
                  <a:txBody>
                    <a:bodyPr wrap="square"/>
                    <a:lstStyle/>
                    <a:p>
                      <a:r>
                        <a:rPr sz="1200" b="1">
                          <a:solidFill>
                            <a:srgbClr val="FFFFFF"/>
                          </a:solidFill>
                          <a:latin typeface="Calibri"/>
                        </a:rPr>
                        <a:t>Gõ</a:t>
                      </a:r>
                    </a:p>
                    <a:p>
                      <a:r>
                        <a:rPr sz="1100" i="1">
                          <a:solidFill>
                            <a:srgbClr val="E9DCC6"/>
                          </a:solidFill>
                          <a:latin typeface="Calibri"/>
                        </a:rPr>
                        <a:t>Type</a:t>
                      </a:r>
                    </a:p>
                  </a:txBody>
                  <a:tcPr marL="64008" marR="64008" marT="27432" marB="27432" anchor="ctr">
                    <a:solidFill>
                      <a:srgbClr val="174349"/>
                    </a:solidFill>
                  </a:tcPr>
                </a:tc>
                <a:tc>
                  <a:txBody>
                    <a:bodyPr wrap="square"/>
                    <a:lstStyle/>
                    <a:p>
                      <a:r>
                        <a:rPr sz="1200" b="1">
                          <a:solidFill>
                            <a:srgbClr val="FFFFFF"/>
                          </a:solidFill>
                          <a:latin typeface="Calibri"/>
                        </a:rPr>
                        <a:t>Kết quả</a:t>
                      </a:r>
                    </a:p>
                    <a:p>
                      <a:r>
                        <a:rPr sz="1100" i="1">
                          <a:solidFill>
                            <a:srgbClr val="E9DCC6"/>
                          </a:solidFill>
                          <a:latin typeface="Calibri"/>
                        </a:rPr>
                        <a:t>Result</a:t>
                      </a:r>
                    </a:p>
                  </a:txBody>
                  <a:tcPr marL="64008" marR="64008" marT="27432" marB="27432" anchor="ctr">
                    <a:solidFill>
                      <a:srgbClr val="174349"/>
                    </a:solidFill>
                  </a:tcPr>
                </a:tc>
              </a:tr>
              <a:tr h="458343">
                <a:tc>
                  <a:txBody>
                    <a:bodyPr wrap="square"/>
                    <a:lstStyle/>
                    <a:p>
                      <a:r>
                        <a:rPr sz="1200" b="1">
                          <a:solidFill>
                            <a:srgbClr val="2A2A2A"/>
                          </a:solidFill>
                          <a:latin typeface="Calibri"/>
                        </a:rPr>
                        <a:t>red ponceau</a:t>
                      </a:r>
                    </a:p>
                  </a:txBody>
                  <a:tcPr marL="64008" marR="64008" marT="27432" marB="27432" anchor="t">
                    <a:solidFill>
                      <a:srgbClr val="FFFDF8"/>
                    </a:solidFill>
                  </a:tcPr>
                </a:tc>
                <a:tc>
                  <a:txBody>
                    <a:bodyPr wrap="square"/>
                    <a:lstStyle/>
                    <a:p>
                      <a:r>
                        <a:rPr sz="1200" b="0">
                          <a:solidFill>
                            <a:srgbClr val="2A2A2A"/>
                          </a:solidFill>
                          <a:latin typeface="Calibri"/>
                        </a:rPr>
                        <a:t>Tệp chứa cả hai từ, ở vị trí bất kỳ.</a:t>
                      </a:r>
                    </a:p>
                    <a:p>
                      <a:r>
                        <a:rPr sz="1100" i="1">
                          <a:solidFill>
                            <a:srgbClr val="6E6256"/>
                          </a:solidFill>
                          <a:latin typeface="Calibri"/>
                        </a:rPr>
                        <a:t>Files containing both words anywhere.</a:t>
                      </a:r>
                    </a:p>
                  </a:txBody>
                  <a:tcPr marL="64008" marR="64008" marT="27432" marB="27432" anchor="t">
                    <a:solidFill>
                      <a:srgbClr val="FFFDF8"/>
                    </a:solidFill>
                  </a:tcPr>
                </a:tc>
              </a:tr>
              <a:tr h="458343">
                <a:tc>
                  <a:txBody>
                    <a:bodyPr wrap="square"/>
                    <a:lstStyle/>
                    <a:p>
                      <a:r>
                        <a:rPr sz="1200" b="1">
                          <a:solidFill>
                            <a:srgbClr val="2A2A2A"/>
                          </a:solidFill>
                          <a:latin typeface="Calibri"/>
                        </a:rPr>
                        <a:t>"red ponceau"</a:t>
                      </a:r>
                    </a:p>
                  </a:txBody>
                  <a:tcPr marL="64008" marR="64008" marT="27432" marB="27432" anchor="t">
                    <a:solidFill>
                      <a:srgbClr val="FFF7E9"/>
                    </a:solidFill>
                  </a:tcPr>
                </a:tc>
                <a:tc>
                  <a:txBody>
                    <a:bodyPr wrap="square"/>
                    <a:lstStyle/>
                    <a:p>
                      <a:r>
                        <a:rPr sz="1200" b="0">
                          <a:solidFill>
                            <a:srgbClr val="2A2A2A"/>
                          </a:solidFill>
                          <a:latin typeface="Calibri"/>
                        </a:rPr>
                        <a:t>Đúng cụm từ, đúng thứ tự.</a:t>
                      </a:r>
                    </a:p>
                    <a:p>
                      <a:r>
                        <a:rPr sz="1100" i="1">
                          <a:solidFill>
                            <a:srgbClr val="6E6256"/>
                          </a:solidFill>
                          <a:latin typeface="Calibri"/>
                        </a:rPr>
                        <a:t>The exact phrase in that order.</a:t>
                      </a:r>
                    </a:p>
                  </a:txBody>
                  <a:tcPr marL="64008" marR="64008" marT="27432" marB="27432" anchor="t">
                    <a:solidFill>
                      <a:srgbClr val="FFF7E9"/>
                    </a:solidFill>
                  </a:tcPr>
                </a:tc>
              </a:tr>
              <a:tr h="458343">
                <a:tc>
                  <a:txBody>
                    <a:bodyPr wrap="square"/>
                    <a:lstStyle/>
                    <a:p>
                      <a:r>
                        <a:rPr sz="1200" b="1">
                          <a:solidFill>
                            <a:srgbClr val="2A2A2A"/>
                          </a:solidFill>
                          <a:latin typeface="Calibri"/>
                        </a:rPr>
                        <a:t>ponceau OR carmoisine</a:t>
                      </a:r>
                    </a:p>
                  </a:txBody>
                  <a:tcPr marL="64008" marR="64008" marT="27432" marB="27432" anchor="t">
                    <a:solidFill>
                      <a:srgbClr val="FFFDF8"/>
                    </a:solidFill>
                  </a:tcPr>
                </a:tc>
                <a:tc>
                  <a:txBody>
                    <a:bodyPr wrap="square"/>
                    <a:lstStyle/>
                    <a:p>
                      <a:r>
                        <a:rPr sz="1200" b="0">
                          <a:solidFill>
                            <a:srgbClr val="2A2A2A"/>
                          </a:solidFill>
                          <a:latin typeface="Calibri"/>
                        </a:rPr>
                        <a:t>Một trong hai từ (viết HOA OR).</a:t>
                      </a:r>
                    </a:p>
                    <a:p>
                      <a:r>
                        <a:rPr sz="1100" i="1">
                          <a:solidFill>
                            <a:srgbClr val="6E6256"/>
                          </a:solidFill>
                          <a:latin typeface="Calibri"/>
                        </a:rPr>
                        <a:t>Either word (OR in capitals).</a:t>
                      </a:r>
                    </a:p>
                  </a:txBody>
                  <a:tcPr marL="64008" marR="64008" marT="27432" marB="27432" anchor="t">
                    <a:solidFill>
                      <a:srgbClr val="FFFDF8"/>
                    </a:solidFill>
                  </a:tcPr>
                </a:tc>
              </a:tr>
              <a:tr h="458343">
                <a:tc>
                  <a:txBody>
                    <a:bodyPr wrap="square"/>
                    <a:lstStyle/>
                    <a:p>
                      <a:r>
                        <a:rPr sz="1200" b="1">
                          <a:solidFill>
                            <a:srgbClr val="2A2A2A"/>
                          </a:solidFill>
                          <a:latin typeface="Calibri"/>
                        </a:rPr>
                        <a:t>ponceau NOT azo</a:t>
                      </a:r>
                    </a:p>
                  </a:txBody>
                  <a:tcPr marL="64008" marR="64008" marT="27432" marB="27432" anchor="t">
                    <a:solidFill>
                      <a:srgbClr val="FFF7E9"/>
                    </a:solidFill>
                  </a:tcPr>
                </a:tc>
                <a:tc>
                  <a:txBody>
                    <a:bodyPr wrap="square"/>
                    <a:lstStyle/>
                    <a:p>
                      <a:r>
                        <a:rPr sz="1200" b="0">
                          <a:solidFill>
                            <a:srgbClr val="2A2A2A"/>
                          </a:solidFill>
                          <a:latin typeface="Calibri"/>
                        </a:rPr>
                        <a:t>Có “ponceau” nhưng không có “azo” (viết HOA NOT).</a:t>
                      </a:r>
                    </a:p>
                    <a:p>
                      <a:r>
                        <a:rPr sz="1100" i="1">
                          <a:solidFill>
                            <a:srgbClr val="6E6256"/>
                          </a:solidFill>
                          <a:latin typeface="Calibri"/>
                        </a:rPr>
                        <a:t>Has “ponceau” but not “azo” (NOT in capitals).</a:t>
                      </a:r>
                    </a:p>
                  </a:txBody>
                  <a:tcPr marL="64008" marR="64008" marT="27432" marB="27432" anchor="t">
                    <a:solidFill>
                      <a:srgbClr val="FFF7E9"/>
                    </a:solidFill>
                  </a:tcPr>
                </a:tc>
              </a:tr>
              <a:tr h="458343">
                <a:tc>
                  <a:txBody>
                    <a:bodyPr wrap="square"/>
                    <a:lstStyle/>
                    <a:p>
                      <a:r>
                        <a:rPr sz="1200" b="1">
                          <a:solidFill>
                            <a:srgbClr val="2A2A2A"/>
                          </a:solidFill>
                          <a:latin typeface="Calibri"/>
                        </a:rPr>
                        <a:t>ponce*</a:t>
                      </a:r>
                    </a:p>
                  </a:txBody>
                  <a:tcPr marL="64008" marR="64008" marT="27432" marB="27432" anchor="t">
                    <a:solidFill>
                      <a:srgbClr val="FFFDF8"/>
                    </a:solidFill>
                  </a:tcPr>
                </a:tc>
                <a:tc>
                  <a:txBody>
                    <a:bodyPr wrap="square"/>
                    <a:lstStyle/>
                    <a:p>
                      <a:r>
                        <a:rPr sz="1200" b="0">
                          <a:solidFill>
                            <a:srgbClr val="2A2A2A"/>
                          </a:solidFill>
                          <a:latin typeface="Calibri"/>
                        </a:rPr>
                        <a:t>Mọi từ bắt đầu bằng “ponce”.</a:t>
                      </a:r>
                    </a:p>
                    <a:p>
                      <a:r>
                        <a:rPr sz="1100" i="1">
                          <a:solidFill>
                            <a:srgbClr val="6E6256"/>
                          </a:solidFill>
                          <a:latin typeface="Calibri"/>
                        </a:rPr>
                        <a:t>Any word starting with “ponce”.</a:t>
                      </a:r>
                    </a:p>
                  </a:txBody>
                  <a:tcPr marL="64008" marR="64008" marT="27432" marB="27432" anchor="t">
                    <a:solidFill>
                      <a:srgbClr val="FFFDF8"/>
                    </a:solidFill>
                  </a:tcPr>
                </a:tc>
              </a:tr>
            </a:tbl>
          </a:graphicData>
        </a:graphic>
      </p:graphicFrame>
      <p:sp>
        <p:nvSpPr>
          <p:cNvPr id="13" name="Rectangle 12"/>
          <p:cNvSpPr/>
          <p:nvPr/>
        </p:nvSpPr>
        <p:spPr>
          <a:xfrm>
            <a:off x="548640" y="4550282"/>
            <a:ext cx="11094415" cy="737616"/>
          </a:xfrm>
          <a:prstGeom prst="rect">
            <a:avLst/>
          </a:prstGeom>
          <a:solidFill>
            <a:srgbClr val="F5E8D8"/>
          </a:solidFill>
          <a:ln w="15875">
            <a:solidFill>
              <a:srgbClr val="C879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550282"/>
            <a:ext cx="91440" cy="737616"/>
          </a:xfrm>
          <a:prstGeom prst="rect">
            <a:avLst/>
          </a:prstGeom>
          <a:solidFill>
            <a:srgbClr val="C87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568570"/>
            <a:ext cx="5295747" cy="228600"/>
          </a:xfrm>
          <a:prstGeom prst="rect">
            <a:avLst/>
          </a:prstGeom>
          <a:noFill/>
        </p:spPr>
        <p:txBody>
          <a:bodyPr wrap="square" anchor="t" lIns="73152" rIns="73152" tIns="27432" bIns="27432">
            <a:spAutoFit/>
          </a:bodyPr>
          <a:lstStyle/>
          <a:p>
            <a:r>
              <a:rPr sz="1000" b="1" i="0">
                <a:solidFill>
                  <a:srgbClr val="C8791E"/>
                </a:solidFill>
                <a:latin typeface="Calibri"/>
              </a:rPr>
              <a:t>Lưu ý / Note</a:t>
            </a:r>
          </a:p>
        </p:txBody>
      </p:sp>
      <p:sp>
        <p:nvSpPr>
          <p:cNvPr id="16" name="TextBox 15"/>
          <p:cNvSpPr txBox="1"/>
          <p:nvPr/>
        </p:nvSpPr>
        <p:spPr>
          <a:xfrm>
            <a:off x="731520" y="4769739"/>
            <a:ext cx="5295747" cy="499871"/>
          </a:xfrm>
          <a:prstGeom prst="rect">
            <a:avLst/>
          </a:prstGeom>
          <a:noFill/>
        </p:spPr>
        <p:txBody>
          <a:bodyPr wrap="square" anchor="t" lIns="73152" rIns="73152" tIns="27432" bIns="27432">
            <a:spAutoFit/>
          </a:bodyPr>
          <a:lstStyle/>
          <a:p>
            <a:r>
              <a:rPr sz="1200" b="0" i="0">
                <a:solidFill>
                  <a:srgbClr val="2A2A2A"/>
                </a:solidFill>
                <a:latin typeface="Calibri"/>
              </a:rPr>
              <a:t>Dấu gạch ngang, dấu cộng hoặc ngoặc kép là ký tự cú pháp. Muốn tìm đúng “4-R” hãy đặt trong ngoặc kép: "4-R".</a:t>
            </a:r>
          </a:p>
        </p:txBody>
      </p:sp>
      <p:sp>
        <p:nvSpPr>
          <p:cNvPr id="17" name="TextBox 16"/>
          <p:cNvSpPr txBox="1"/>
          <p:nvPr/>
        </p:nvSpPr>
        <p:spPr>
          <a:xfrm>
            <a:off x="6255867" y="4769739"/>
            <a:ext cx="5295747" cy="499871"/>
          </a:xfrm>
          <a:prstGeom prst="rect">
            <a:avLst/>
          </a:prstGeom>
          <a:noFill/>
        </p:spPr>
        <p:txBody>
          <a:bodyPr wrap="square" anchor="t" lIns="73152" rIns="73152" tIns="27432" bIns="27432">
            <a:spAutoFit/>
          </a:bodyPr>
          <a:lstStyle/>
          <a:p>
            <a:r>
              <a:rPr sz="1050" b="0" i="1">
                <a:solidFill>
                  <a:srgbClr val="6E6256"/>
                </a:solidFill>
                <a:latin typeface="Calibri"/>
              </a:rPr>
              <a:t>A hyphen, plus sign or quote is syntax. To find “4-R” literally, put it in quotes: "4-R".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6. Quy trình thực hiện  (tiếp / cont.)</a:t>
            </a:r>
          </a:p>
          <a:p>
            <a:r>
              <a:rPr sz="1400" b="0" i="1">
                <a:solidFill>
                  <a:srgbClr val="F2C57B"/>
                </a:solidFill>
                <a:latin typeface="Calibri"/>
              </a:rPr>
              <a:t>Procedure</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13</a:t>
            </a:r>
          </a:p>
        </p:txBody>
      </p:sp>
      <p:sp>
        <p:nvSpPr>
          <p:cNvPr id="9" name="Rectangle 8"/>
          <p:cNvSpPr/>
          <p:nvPr/>
        </p:nvSpPr>
        <p:spPr>
          <a:xfrm>
            <a:off x="548640" y="1188720"/>
            <a:ext cx="11094415" cy="384048"/>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188720"/>
            <a:ext cx="64008" cy="384048"/>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188720"/>
            <a:ext cx="11002975" cy="384048"/>
          </a:xfrm>
          <a:prstGeom prst="rect">
            <a:avLst/>
          </a:prstGeom>
          <a:noFill/>
        </p:spPr>
        <p:txBody>
          <a:bodyPr wrap="square" anchor="ctr" lIns="73152" rIns="73152" tIns="27432" bIns="27432">
            <a:spAutoFit/>
          </a:bodyPr>
          <a:lstStyle/>
          <a:p>
            <a:r>
              <a:rPr sz="1500" b="1" i="0">
                <a:solidFill>
                  <a:srgbClr val="174349"/>
                </a:solidFill>
                <a:latin typeface="Calibri"/>
              </a:rPr>
              <a:t>6.5  Quét trực tiếp (không dùng chỉ mục)</a:t>
            </a:r>
            <a:r>
              <a:rPr sz="1200" i="1">
                <a:solidFill>
                  <a:srgbClr val="6E6256"/>
                </a:solidFill>
                <a:latin typeface="Calibri"/>
              </a:rPr>
              <a:t>   /   Live scan (without the index)</a:t>
            </a:r>
          </a:p>
        </p:txBody>
      </p:sp>
      <p:sp>
        <p:nvSpPr>
          <p:cNvPr id="12" name="Oval 11"/>
          <p:cNvSpPr/>
          <p:nvPr/>
        </p:nvSpPr>
        <p:spPr>
          <a:xfrm>
            <a:off x="548640" y="1700784"/>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1</a:t>
            </a:r>
          </a:p>
        </p:txBody>
      </p:sp>
      <p:sp>
        <p:nvSpPr>
          <p:cNvPr id="13" name="TextBox 12"/>
          <p:cNvSpPr txBox="1"/>
          <p:nvPr/>
        </p:nvSpPr>
        <p:spPr>
          <a:xfrm>
            <a:off x="1005840" y="1664208"/>
            <a:ext cx="5204307" cy="363220"/>
          </a:xfrm>
          <a:prstGeom prst="rect">
            <a:avLst/>
          </a:prstGeom>
          <a:noFill/>
        </p:spPr>
        <p:txBody>
          <a:bodyPr wrap="square" anchor="t" lIns="73152" rIns="73152" tIns="27432" bIns="27432">
            <a:spAutoFit/>
          </a:bodyPr>
          <a:lstStyle/>
          <a:p>
            <a:r>
              <a:rPr sz="1400" b="0" i="0">
                <a:solidFill>
                  <a:srgbClr val="2A2A2A"/>
                </a:solidFill>
                <a:latin typeface="Calibri"/>
              </a:rPr>
              <a:t>Bỏ dấu tick Use Index (FTS) (5).</a:t>
            </a:r>
          </a:p>
        </p:txBody>
      </p:sp>
      <p:sp>
        <p:nvSpPr>
          <p:cNvPr id="14" name="TextBox 13"/>
          <p:cNvSpPr txBox="1"/>
          <p:nvPr/>
        </p:nvSpPr>
        <p:spPr>
          <a:xfrm>
            <a:off x="6438747" y="1664208"/>
            <a:ext cx="5204307" cy="363220"/>
          </a:xfrm>
          <a:prstGeom prst="rect">
            <a:avLst/>
          </a:prstGeom>
          <a:noFill/>
        </p:spPr>
        <p:txBody>
          <a:bodyPr wrap="square" anchor="t" lIns="73152" rIns="73152" tIns="27432" bIns="27432">
            <a:spAutoFit/>
          </a:bodyPr>
          <a:lstStyle/>
          <a:p>
            <a:r>
              <a:rPr sz="1250" b="0" i="1">
                <a:solidFill>
                  <a:srgbClr val="6E6256"/>
                </a:solidFill>
                <a:latin typeface="Calibri"/>
              </a:rPr>
              <a:t>Untick Use Index (FTS) (5).</a:t>
            </a:r>
          </a:p>
        </p:txBody>
      </p:sp>
      <p:sp>
        <p:nvSpPr>
          <p:cNvPr id="15" name="Oval 14"/>
          <p:cNvSpPr/>
          <p:nvPr/>
        </p:nvSpPr>
        <p:spPr>
          <a:xfrm>
            <a:off x="548640" y="2118868"/>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2</a:t>
            </a:r>
          </a:p>
        </p:txBody>
      </p:sp>
      <p:sp>
        <p:nvSpPr>
          <p:cNvPr id="16" name="TextBox 15"/>
          <p:cNvSpPr txBox="1"/>
          <p:nvPr/>
        </p:nvSpPr>
        <p:spPr>
          <a:xfrm>
            <a:off x="1005840" y="2082291"/>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Chọn Case-insensitive nếu không phân biệt hoa/thường; đặt ngày và loại tệp.</a:t>
            </a:r>
          </a:p>
        </p:txBody>
      </p:sp>
      <p:sp>
        <p:nvSpPr>
          <p:cNvPr id="17" name="TextBox 16"/>
          <p:cNvSpPr txBox="1"/>
          <p:nvPr/>
        </p:nvSpPr>
        <p:spPr>
          <a:xfrm>
            <a:off x="6438747" y="2082291"/>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Tick Case-insensitive to ignore upper/lower case; set dates and file types.</a:t>
            </a:r>
          </a:p>
        </p:txBody>
      </p:sp>
      <p:sp>
        <p:nvSpPr>
          <p:cNvPr id="18" name="Oval 17"/>
          <p:cNvSpPr/>
          <p:nvPr/>
        </p:nvSpPr>
        <p:spPr>
          <a:xfrm>
            <a:off x="548640" y="2753868"/>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3</a:t>
            </a:r>
          </a:p>
        </p:txBody>
      </p:sp>
      <p:sp>
        <p:nvSpPr>
          <p:cNvPr id="19" name="TextBox 18"/>
          <p:cNvSpPr txBox="1"/>
          <p:nvPr/>
        </p:nvSpPr>
        <p:spPr>
          <a:xfrm>
            <a:off x="1005840" y="2717292"/>
            <a:ext cx="5204307" cy="797052"/>
          </a:xfrm>
          <a:prstGeom prst="rect">
            <a:avLst/>
          </a:prstGeom>
          <a:noFill/>
        </p:spPr>
        <p:txBody>
          <a:bodyPr wrap="square" anchor="t" lIns="73152" rIns="73152" tIns="27432" bIns="27432">
            <a:spAutoFit/>
          </a:bodyPr>
          <a:lstStyle/>
          <a:p>
            <a:r>
              <a:rPr sz="1400" b="0" i="0">
                <a:solidFill>
                  <a:srgbClr val="2A2A2A"/>
                </a:solidFill>
                <a:latin typeface="Calibri"/>
              </a:rPr>
              <a:t>Nhập từ khoá, nhấn Enter. Thanh trạng thái hiện “Scanning […]”, kết quả xuất hiện dần; kết thúc bằng “Done. Scanned N file(s). Matches: M”.</a:t>
            </a:r>
          </a:p>
        </p:txBody>
      </p:sp>
      <p:sp>
        <p:nvSpPr>
          <p:cNvPr id="20" name="TextBox 19"/>
          <p:cNvSpPr txBox="1"/>
          <p:nvPr/>
        </p:nvSpPr>
        <p:spPr>
          <a:xfrm>
            <a:off x="6438747" y="2717292"/>
            <a:ext cx="5204307" cy="797052"/>
          </a:xfrm>
          <a:prstGeom prst="rect">
            <a:avLst/>
          </a:prstGeom>
          <a:noFill/>
        </p:spPr>
        <p:txBody>
          <a:bodyPr wrap="square" anchor="t" lIns="73152" rIns="73152" tIns="27432" bIns="27432">
            <a:spAutoFit/>
          </a:bodyPr>
          <a:lstStyle/>
          <a:p>
            <a:r>
              <a:rPr sz="1250" b="0" i="1">
                <a:solidFill>
                  <a:srgbClr val="6E6256"/>
                </a:solidFill>
                <a:latin typeface="Calibri"/>
              </a:rPr>
              <a:t>Enter the keyword and press Enter. The status bar shows “Scanning […]”, results appear gradually and finish with “Done. Scanned N file(s). Matches: M”.</a:t>
            </a:r>
          </a:p>
        </p:txBody>
      </p:sp>
      <p:sp>
        <p:nvSpPr>
          <p:cNvPr id="21" name="Oval 20"/>
          <p:cNvSpPr/>
          <p:nvPr/>
        </p:nvSpPr>
        <p:spPr>
          <a:xfrm>
            <a:off x="548640" y="3605784"/>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4</a:t>
            </a:r>
          </a:p>
        </p:txBody>
      </p:sp>
      <p:sp>
        <p:nvSpPr>
          <p:cNvPr id="22" name="TextBox 21"/>
          <p:cNvSpPr txBox="1"/>
          <p:nvPr/>
        </p:nvSpPr>
        <p:spPr>
          <a:xfrm>
            <a:off x="1005840" y="3569208"/>
            <a:ext cx="5204307" cy="363220"/>
          </a:xfrm>
          <a:prstGeom prst="rect">
            <a:avLst/>
          </a:prstGeom>
          <a:noFill/>
        </p:spPr>
        <p:txBody>
          <a:bodyPr wrap="square" anchor="t" lIns="73152" rIns="73152" tIns="27432" bIns="27432">
            <a:spAutoFit/>
          </a:bodyPr>
          <a:lstStyle/>
          <a:p>
            <a:r>
              <a:rPr sz="1400" b="0" i="0">
                <a:solidFill>
                  <a:srgbClr val="2A2A2A"/>
                </a:solidFill>
                <a:latin typeface="Calibri"/>
              </a:rPr>
              <a:t>Nhấn Esc để dừng giữa chừng.</a:t>
            </a:r>
          </a:p>
        </p:txBody>
      </p:sp>
      <p:sp>
        <p:nvSpPr>
          <p:cNvPr id="23" name="TextBox 22"/>
          <p:cNvSpPr txBox="1"/>
          <p:nvPr/>
        </p:nvSpPr>
        <p:spPr>
          <a:xfrm>
            <a:off x="6438747" y="3569208"/>
            <a:ext cx="5204307" cy="363220"/>
          </a:xfrm>
          <a:prstGeom prst="rect">
            <a:avLst/>
          </a:prstGeom>
          <a:noFill/>
        </p:spPr>
        <p:txBody>
          <a:bodyPr wrap="square" anchor="t" lIns="73152" rIns="73152" tIns="27432" bIns="27432">
            <a:spAutoFit/>
          </a:bodyPr>
          <a:lstStyle/>
          <a:p>
            <a:r>
              <a:rPr sz="1250" b="0" i="1">
                <a:solidFill>
                  <a:srgbClr val="6E6256"/>
                </a:solidFill>
                <a:latin typeface="Calibri"/>
              </a:rPr>
              <a:t>Press Esc to stop at any time.</a:t>
            </a:r>
          </a:p>
        </p:txBody>
      </p:sp>
      <p:sp>
        <p:nvSpPr>
          <p:cNvPr id="24" name="Rectangle 23"/>
          <p:cNvSpPr/>
          <p:nvPr/>
        </p:nvSpPr>
        <p:spPr>
          <a:xfrm>
            <a:off x="548640" y="3987291"/>
            <a:ext cx="11094415" cy="737616"/>
          </a:xfrm>
          <a:prstGeom prst="rect">
            <a:avLst/>
          </a:prstGeom>
          <a:solidFill>
            <a:srgbClr val="FFF7E9"/>
          </a:solidFill>
          <a:ln w="15875">
            <a:solidFill>
              <a:srgbClr val="E89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987291"/>
            <a:ext cx="91440" cy="737616"/>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005579"/>
            <a:ext cx="5295747" cy="228600"/>
          </a:xfrm>
          <a:prstGeom prst="rect">
            <a:avLst/>
          </a:prstGeom>
          <a:noFill/>
        </p:spPr>
        <p:txBody>
          <a:bodyPr wrap="square" anchor="t" lIns="73152" rIns="73152" tIns="27432" bIns="27432">
            <a:spAutoFit/>
          </a:bodyPr>
          <a:lstStyle/>
          <a:p>
            <a:r>
              <a:rPr sz="1000" b="1" i="0">
                <a:solidFill>
                  <a:srgbClr val="E89E3A"/>
                </a:solidFill>
                <a:latin typeface="Calibri"/>
              </a:rPr>
              <a:t>Mẹo / Tip</a:t>
            </a:r>
          </a:p>
        </p:txBody>
      </p:sp>
      <p:sp>
        <p:nvSpPr>
          <p:cNvPr id="27" name="TextBox 26"/>
          <p:cNvSpPr txBox="1"/>
          <p:nvPr/>
        </p:nvSpPr>
        <p:spPr>
          <a:xfrm>
            <a:off x="731520" y="4206748"/>
            <a:ext cx="5295747" cy="499871"/>
          </a:xfrm>
          <a:prstGeom prst="rect">
            <a:avLst/>
          </a:prstGeom>
          <a:noFill/>
        </p:spPr>
        <p:txBody>
          <a:bodyPr wrap="square" anchor="t" lIns="73152" rIns="73152" tIns="27432" bIns="27432">
            <a:spAutoFit/>
          </a:bodyPr>
          <a:lstStyle/>
          <a:p>
            <a:r>
              <a:rPr sz="1200" b="0" i="0">
                <a:solidFill>
                  <a:srgbClr val="2A2A2A"/>
                </a:solidFill>
                <a:latin typeface="Calibri"/>
              </a:rPr>
              <a:t>Quét trực tiếp tìm đúng chuỗi ký tự bạn gõ (không bỏ dấu tiếng Việt, không dùng AND/OR/NOT) và hiển thị thêm cột Created/Accessed.</a:t>
            </a:r>
          </a:p>
        </p:txBody>
      </p:sp>
      <p:sp>
        <p:nvSpPr>
          <p:cNvPr id="28" name="TextBox 27"/>
          <p:cNvSpPr txBox="1"/>
          <p:nvPr/>
        </p:nvSpPr>
        <p:spPr>
          <a:xfrm>
            <a:off x="6255867" y="4206748"/>
            <a:ext cx="5295747" cy="499871"/>
          </a:xfrm>
          <a:prstGeom prst="rect">
            <a:avLst/>
          </a:prstGeom>
          <a:noFill/>
        </p:spPr>
        <p:txBody>
          <a:bodyPr wrap="square" anchor="t" lIns="73152" rIns="73152" tIns="27432" bIns="27432">
            <a:spAutoFit/>
          </a:bodyPr>
          <a:lstStyle/>
          <a:p>
            <a:r>
              <a:rPr sz="1050" b="0" i="1">
                <a:solidFill>
                  <a:srgbClr val="6E6256"/>
                </a:solidFill>
                <a:latin typeface="Calibri"/>
              </a:rPr>
              <a:t>Live scan matches the exact characters you type (Vietnamese accents matter, no AND/OR/NOT) and also fills the Created/Accessed columns.</a:t>
            </a:r>
          </a:p>
        </p:txBody>
      </p:sp>
      <p:sp>
        <p:nvSpPr>
          <p:cNvPr id="29" name="Rectangle 28"/>
          <p:cNvSpPr/>
          <p:nvPr/>
        </p:nvSpPr>
        <p:spPr>
          <a:xfrm>
            <a:off x="548640" y="4834636"/>
            <a:ext cx="11094415" cy="384048"/>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34636"/>
            <a:ext cx="64008" cy="384048"/>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834636"/>
            <a:ext cx="11002975" cy="384048"/>
          </a:xfrm>
          <a:prstGeom prst="rect">
            <a:avLst/>
          </a:prstGeom>
          <a:noFill/>
        </p:spPr>
        <p:txBody>
          <a:bodyPr wrap="square" anchor="ctr" lIns="73152" rIns="73152" tIns="27432" bIns="27432">
            <a:spAutoFit/>
          </a:bodyPr>
          <a:lstStyle/>
          <a:p>
            <a:r>
              <a:rPr sz="1500" b="1" i="0">
                <a:solidFill>
                  <a:srgbClr val="174349"/>
                </a:solidFill>
                <a:latin typeface="Calibri"/>
              </a:rPr>
              <a:t>6.6  Làm việc với kết quả</a:t>
            </a:r>
            <a:r>
              <a:rPr sz="1200" i="1">
                <a:solidFill>
                  <a:srgbClr val="6E6256"/>
                </a:solidFill>
                <a:latin typeface="Calibri"/>
              </a:rPr>
              <a:t>   /   Work with the results</a:t>
            </a:r>
          </a:p>
        </p:txBody>
      </p:sp>
      <p:sp>
        <p:nvSpPr>
          <p:cNvPr id="32" name="Oval 31"/>
          <p:cNvSpPr/>
          <p:nvPr/>
        </p:nvSpPr>
        <p:spPr>
          <a:xfrm>
            <a:off x="548640" y="5346700"/>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1</a:t>
            </a:r>
          </a:p>
        </p:txBody>
      </p:sp>
      <p:sp>
        <p:nvSpPr>
          <p:cNvPr id="33" name="TextBox 32"/>
          <p:cNvSpPr txBox="1"/>
          <p:nvPr/>
        </p:nvSpPr>
        <p:spPr>
          <a:xfrm>
            <a:off x="1005840" y="5310124"/>
            <a:ext cx="5204307" cy="533654"/>
          </a:xfrm>
          <a:prstGeom prst="rect">
            <a:avLst/>
          </a:prstGeom>
          <a:noFill/>
        </p:spPr>
        <p:txBody>
          <a:bodyPr wrap="square" anchor="t" lIns="73152" rIns="73152" tIns="27432" bIns="27432">
            <a:spAutoFit/>
          </a:bodyPr>
          <a:lstStyle/>
          <a:p>
            <a:r>
              <a:rPr sz="1400" b="0" i="0">
                <a:solidFill>
                  <a:srgbClr val="2A2A2A"/>
                </a:solidFill>
                <a:latin typeface="Calibri"/>
              </a:rPr>
              <a:t>Bấm tiêu đề cột để sắp xếp (mũi tên ▲/▼ cho biết chiều).</a:t>
            </a:r>
          </a:p>
        </p:txBody>
      </p:sp>
      <p:sp>
        <p:nvSpPr>
          <p:cNvPr id="34" name="TextBox 33"/>
          <p:cNvSpPr txBox="1"/>
          <p:nvPr/>
        </p:nvSpPr>
        <p:spPr>
          <a:xfrm>
            <a:off x="6438747" y="5310124"/>
            <a:ext cx="5204307" cy="533654"/>
          </a:xfrm>
          <a:prstGeom prst="rect">
            <a:avLst/>
          </a:prstGeom>
          <a:noFill/>
        </p:spPr>
        <p:txBody>
          <a:bodyPr wrap="square" anchor="t" lIns="73152" rIns="73152" tIns="27432" bIns="27432">
            <a:spAutoFit/>
          </a:bodyPr>
          <a:lstStyle/>
          <a:p>
            <a:r>
              <a:rPr sz="1250" b="0" i="1">
                <a:solidFill>
                  <a:srgbClr val="6E6256"/>
                </a:solidFill>
                <a:latin typeface="Calibri"/>
              </a:rPr>
              <a:t>Click a column header to sort (the ▲/▼ arrow shows the direction).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6. Quy trình thực hiện  (tiếp / cont.)</a:t>
            </a:r>
          </a:p>
          <a:p>
            <a:r>
              <a:rPr sz="1400" b="0" i="1">
                <a:solidFill>
                  <a:srgbClr val="F2C57B"/>
                </a:solidFill>
                <a:latin typeface="Calibri"/>
              </a:rPr>
              <a:t>Procedure</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14</a:t>
            </a:r>
          </a:p>
        </p:txBody>
      </p:sp>
      <p:sp>
        <p:nvSpPr>
          <p:cNvPr id="9" name="Oval 8"/>
          <p:cNvSpPr/>
          <p:nvPr/>
        </p:nvSpPr>
        <p:spPr>
          <a:xfrm>
            <a:off x="548640" y="1225296"/>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2</a:t>
            </a:r>
          </a:p>
        </p:txBody>
      </p:sp>
      <p:sp>
        <p:nvSpPr>
          <p:cNvPr id="10" name="TextBox 9"/>
          <p:cNvSpPr txBox="1"/>
          <p:nvPr/>
        </p:nvSpPr>
        <p:spPr>
          <a:xfrm>
            <a:off x="1005840" y="1188720"/>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Chọn dòng: bấm; nhiều dòng: giữ Ctrl hoặc Shift; tất cả: Ctrl+A.</a:t>
            </a:r>
          </a:p>
        </p:txBody>
      </p:sp>
      <p:sp>
        <p:nvSpPr>
          <p:cNvPr id="11" name="TextBox 10"/>
          <p:cNvSpPr txBox="1"/>
          <p:nvPr/>
        </p:nvSpPr>
        <p:spPr>
          <a:xfrm>
            <a:off x="6438747" y="1188720"/>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Select a row by clicking; several rows with Ctrl or Shift; all with Ctrl+A.</a:t>
            </a:r>
          </a:p>
        </p:txBody>
      </p:sp>
      <p:sp>
        <p:nvSpPr>
          <p:cNvPr id="12" name="Oval 11"/>
          <p:cNvSpPr/>
          <p:nvPr/>
        </p:nvSpPr>
        <p:spPr>
          <a:xfrm>
            <a:off x="548640" y="1860296"/>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3</a:t>
            </a:r>
          </a:p>
        </p:txBody>
      </p:sp>
      <p:sp>
        <p:nvSpPr>
          <p:cNvPr id="13" name="TextBox 12"/>
          <p:cNvSpPr txBox="1"/>
          <p:nvPr/>
        </p:nvSpPr>
        <p:spPr>
          <a:xfrm>
            <a:off x="1005840" y="1823720"/>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Open Selected (Ctrl+E), nhấp đúp hoặc Enter: mở tệp bằng chương trình mặc định.</a:t>
            </a:r>
          </a:p>
        </p:txBody>
      </p:sp>
      <p:sp>
        <p:nvSpPr>
          <p:cNvPr id="14" name="TextBox 13"/>
          <p:cNvSpPr txBox="1"/>
          <p:nvPr/>
        </p:nvSpPr>
        <p:spPr>
          <a:xfrm>
            <a:off x="6438747" y="1823720"/>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Open Selected (Ctrl+E), double-click or Enter: opens the file in its default program.</a:t>
            </a:r>
          </a:p>
        </p:txBody>
      </p:sp>
      <p:sp>
        <p:nvSpPr>
          <p:cNvPr id="15" name="Oval 14"/>
          <p:cNvSpPr/>
          <p:nvPr/>
        </p:nvSpPr>
        <p:spPr>
          <a:xfrm>
            <a:off x="548640" y="2495296"/>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4</a:t>
            </a:r>
          </a:p>
        </p:txBody>
      </p:sp>
      <p:sp>
        <p:nvSpPr>
          <p:cNvPr id="16" name="TextBox 15"/>
          <p:cNvSpPr txBox="1"/>
          <p:nvPr/>
        </p:nvSpPr>
        <p:spPr>
          <a:xfrm>
            <a:off x="1005840" y="2458720"/>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Reveal (Ctrl+Shift+E): mở thư mục chứa tệp và chọn sẵn tệp.</a:t>
            </a:r>
          </a:p>
        </p:txBody>
      </p:sp>
      <p:sp>
        <p:nvSpPr>
          <p:cNvPr id="17" name="TextBox 16"/>
          <p:cNvSpPr txBox="1"/>
          <p:nvPr/>
        </p:nvSpPr>
        <p:spPr>
          <a:xfrm>
            <a:off x="6438747" y="2458720"/>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Reveal (Ctrl+Shift+E): opens the containing folder with the file selected.</a:t>
            </a:r>
          </a:p>
        </p:txBody>
      </p:sp>
      <p:sp>
        <p:nvSpPr>
          <p:cNvPr id="18" name="Oval 17"/>
          <p:cNvSpPr/>
          <p:nvPr/>
        </p:nvSpPr>
        <p:spPr>
          <a:xfrm>
            <a:off x="548640" y="3130296"/>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5</a:t>
            </a:r>
          </a:p>
        </p:txBody>
      </p:sp>
      <p:sp>
        <p:nvSpPr>
          <p:cNvPr id="19" name="TextBox 18"/>
          <p:cNvSpPr txBox="1"/>
          <p:nvPr/>
        </p:nvSpPr>
        <p:spPr>
          <a:xfrm>
            <a:off x="1005840" y="3093720"/>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Copy Paths (Ctrl+C): chép đường dẫn các dòng đã chọn (hoặc tất cả nếu chưa chọn) vào clipboard.</a:t>
            </a:r>
          </a:p>
        </p:txBody>
      </p:sp>
      <p:sp>
        <p:nvSpPr>
          <p:cNvPr id="20" name="TextBox 19"/>
          <p:cNvSpPr txBox="1"/>
          <p:nvPr/>
        </p:nvSpPr>
        <p:spPr>
          <a:xfrm>
            <a:off x="6438747" y="3093720"/>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Copy Paths (Ctrl+C): copies the selected paths (or all if none selected) to the clipboard.</a:t>
            </a:r>
          </a:p>
        </p:txBody>
      </p:sp>
      <p:sp>
        <p:nvSpPr>
          <p:cNvPr id="21" name="Oval 20"/>
          <p:cNvSpPr/>
          <p:nvPr/>
        </p:nvSpPr>
        <p:spPr>
          <a:xfrm>
            <a:off x="548640" y="3765296"/>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6</a:t>
            </a:r>
          </a:p>
        </p:txBody>
      </p:sp>
      <p:sp>
        <p:nvSpPr>
          <p:cNvPr id="22" name="TextBox 21"/>
          <p:cNvSpPr txBox="1"/>
          <p:nvPr/>
        </p:nvSpPr>
        <p:spPr>
          <a:xfrm>
            <a:off x="1005840" y="3728720"/>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Chuột phải trên bảng để mở menu nhanh. Clear Results (Ctrl+L) để xoá bảng.</a:t>
            </a:r>
          </a:p>
        </p:txBody>
      </p:sp>
      <p:sp>
        <p:nvSpPr>
          <p:cNvPr id="23" name="TextBox 22"/>
          <p:cNvSpPr txBox="1"/>
          <p:nvPr/>
        </p:nvSpPr>
        <p:spPr>
          <a:xfrm>
            <a:off x="6438747" y="3728720"/>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Right-click the table for the quick menu. Clear Results (Ctrl+L) empties the table.</a:t>
            </a:r>
          </a:p>
        </p:txBody>
      </p:sp>
      <p:sp>
        <p:nvSpPr>
          <p:cNvPr id="24" name="Rectangle 23"/>
          <p:cNvSpPr/>
          <p:nvPr/>
        </p:nvSpPr>
        <p:spPr>
          <a:xfrm>
            <a:off x="548640" y="4363720"/>
            <a:ext cx="11094415" cy="384048"/>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363720"/>
            <a:ext cx="64008" cy="384048"/>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363720"/>
            <a:ext cx="11002975" cy="384048"/>
          </a:xfrm>
          <a:prstGeom prst="rect">
            <a:avLst/>
          </a:prstGeom>
          <a:noFill/>
        </p:spPr>
        <p:txBody>
          <a:bodyPr wrap="square" anchor="ctr" lIns="73152" rIns="73152" tIns="27432" bIns="27432">
            <a:spAutoFit/>
          </a:bodyPr>
          <a:lstStyle/>
          <a:p>
            <a:r>
              <a:rPr sz="1500" b="1" i="0">
                <a:solidFill>
                  <a:srgbClr val="174349"/>
                </a:solidFill>
                <a:latin typeface="Calibri"/>
              </a:rPr>
              <a:t>6.7  Đổi giao diện</a:t>
            </a:r>
            <a:r>
              <a:rPr sz="1200" i="1">
                <a:solidFill>
                  <a:srgbClr val="6E6256"/>
                </a:solidFill>
                <a:latin typeface="Calibri"/>
              </a:rPr>
              <a:t>   /   Change the appearance</a:t>
            </a:r>
          </a:p>
        </p:txBody>
      </p:sp>
      <p:sp>
        <p:nvSpPr>
          <p:cNvPr id="27" name="Oval 26"/>
          <p:cNvSpPr/>
          <p:nvPr/>
        </p:nvSpPr>
        <p:spPr>
          <a:xfrm>
            <a:off x="548640" y="4875784"/>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1</a:t>
            </a:r>
          </a:p>
        </p:txBody>
      </p:sp>
      <p:sp>
        <p:nvSpPr>
          <p:cNvPr id="28" name="TextBox 27"/>
          <p:cNvSpPr txBox="1"/>
          <p:nvPr/>
        </p:nvSpPr>
        <p:spPr>
          <a:xfrm>
            <a:off x="1005840" y="4839208"/>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Chọn trong ô Appearance (11) hoặc menu View → Appearance.</a:t>
            </a:r>
          </a:p>
        </p:txBody>
      </p:sp>
      <p:sp>
        <p:nvSpPr>
          <p:cNvPr id="29" name="TextBox 28"/>
          <p:cNvSpPr txBox="1"/>
          <p:nvPr/>
        </p:nvSpPr>
        <p:spPr>
          <a:xfrm>
            <a:off x="6438747" y="4839208"/>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Pick from the Appearance box (11) or the View → Appearance menu.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6. Quy trình thực hiện  (tiếp / cont.)</a:t>
            </a:r>
          </a:p>
          <a:p>
            <a:r>
              <a:rPr sz="1400" b="0" i="1">
                <a:solidFill>
                  <a:srgbClr val="F2C57B"/>
                </a:solidFill>
                <a:latin typeface="Calibri"/>
              </a:rPr>
              <a:t>Procedure</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15</a:t>
            </a:r>
          </a:p>
        </p:txBody>
      </p:sp>
      <p:sp>
        <p:nvSpPr>
          <p:cNvPr id="9" name="Oval 8"/>
          <p:cNvSpPr/>
          <p:nvPr/>
        </p:nvSpPr>
        <p:spPr>
          <a:xfrm>
            <a:off x="548640" y="1225296"/>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2</a:t>
            </a:r>
          </a:p>
        </p:txBody>
      </p:sp>
      <p:sp>
        <p:nvSpPr>
          <p:cNvPr id="10" name="TextBox 9"/>
          <p:cNvSpPr txBox="1"/>
          <p:nvPr/>
        </p:nvSpPr>
        <p:spPr>
          <a:xfrm>
            <a:off x="1005840" y="1188720"/>
            <a:ext cx="5204307" cy="797052"/>
          </a:xfrm>
          <a:prstGeom prst="rect">
            <a:avLst/>
          </a:prstGeom>
          <a:noFill/>
        </p:spPr>
        <p:txBody>
          <a:bodyPr wrap="square" anchor="t" lIns="73152" rIns="73152" tIns="27432" bIns="27432">
            <a:spAutoFit/>
          </a:bodyPr>
          <a:lstStyle/>
          <a:p>
            <a:r>
              <a:rPr sz="1400" b="0" i="0">
                <a:solidFill>
                  <a:srgbClr val="2A2A2A"/>
                </a:solidFill>
                <a:latin typeface="Calibri"/>
              </a:rPr>
              <a:t>Có 5 lựa chọn: System (theo Windows), Light, Dark, Luxury Warm, Modern Blue-Gray. Giao diện đổi ngay, không cần khởi động lại và được ghi nhớ cho lần sau.</a:t>
            </a:r>
          </a:p>
        </p:txBody>
      </p:sp>
      <p:sp>
        <p:nvSpPr>
          <p:cNvPr id="11" name="TextBox 10"/>
          <p:cNvSpPr txBox="1"/>
          <p:nvPr/>
        </p:nvSpPr>
        <p:spPr>
          <a:xfrm>
            <a:off x="6438747" y="1188720"/>
            <a:ext cx="5204307" cy="797052"/>
          </a:xfrm>
          <a:prstGeom prst="rect">
            <a:avLst/>
          </a:prstGeom>
          <a:noFill/>
        </p:spPr>
        <p:txBody>
          <a:bodyPr wrap="square" anchor="t" lIns="73152" rIns="73152" tIns="27432" bIns="27432">
            <a:spAutoFit/>
          </a:bodyPr>
          <a:lstStyle/>
          <a:p>
            <a:r>
              <a:rPr sz="1250" b="0" i="1">
                <a:solidFill>
                  <a:srgbClr val="6E6256"/>
                </a:solidFill>
                <a:latin typeface="Calibri"/>
              </a:rPr>
              <a:t>Five options: System (follows Windows), Light, Dark, Luxury Warm, Modern Blue-Gray. The change is immediate, needs no restart and is remembered.</a:t>
            </a:r>
          </a:p>
        </p:txBody>
      </p:sp>
      <p:sp>
        <p:nvSpPr>
          <p:cNvPr id="12" name="Rectangle 11"/>
          <p:cNvSpPr/>
          <p:nvPr/>
        </p:nvSpPr>
        <p:spPr>
          <a:xfrm>
            <a:off x="548640" y="2040635"/>
            <a:ext cx="11094415" cy="384048"/>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40635"/>
            <a:ext cx="64008" cy="384048"/>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040635"/>
            <a:ext cx="11002975" cy="384048"/>
          </a:xfrm>
          <a:prstGeom prst="rect">
            <a:avLst/>
          </a:prstGeom>
          <a:noFill/>
        </p:spPr>
        <p:txBody>
          <a:bodyPr wrap="square" anchor="ctr" lIns="73152" rIns="73152" tIns="27432" bIns="27432">
            <a:spAutoFit/>
          </a:bodyPr>
          <a:lstStyle/>
          <a:p>
            <a:r>
              <a:rPr sz="1500" b="1" i="0">
                <a:solidFill>
                  <a:srgbClr val="174349"/>
                </a:solidFill>
                <a:latin typeface="Calibri"/>
              </a:rPr>
              <a:t>6.8  Giữ chỉ mục luôn cập nhật</a:t>
            </a:r>
            <a:r>
              <a:rPr sz="1200" i="1">
                <a:solidFill>
                  <a:srgbClr val="6E6256"/>
                </a:solidFill>
                <a:latin typeface="Calibri"/>
              </a:rPr>
              <a:t>   /   Keep the index up to date</a:t>
            </a:r>
          </a:p>
        </p:txBody>
      </p:sp>
      <p:sp>
        <p:nvSpPr>
          <p:cNvPr id="15" name="Oval 14"/>
          <p:cNvSpPr/>
          <p:nvPr/>
        </p:nvSpPr>
        <p:spPr>
          <a:xfrm>
            <a:off x="548640" y="2552700"/>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1</a:t>
            </a:r>
          </a:p>
        </p:txBody>
      </p:sp>
      <p:sp>
        <p:nvSpPr>
          <p:cNvPr id="16" name="TextBox 15"/>
          <p:cNvSpPr txBox="1"/>
          <p:nvPr/>
        </p:nvSpPr>
        <p:spPr>
          <a:xfrm>
            <a:off x="1005840" y="2516124"/>
            <a:ext cx="5204307" cy="797052"/>
          </a:xfrm>
          <a:prstGeom prst="rect">
            <a:avLst/>
          </a:prstGeom>
          <a:noFill/>
        </p:spPr>
        <p:txBody>
          <a:bodyPr wrap="square" anchor="t" lIns="73152" rIns="73152" tIns="27432" bIns="27432">
            <a:spAutoFit/>
          </a:bodyPr>
          <a:lstStyle/>
          <a:p>
            <a:r>
              <a:rPr sz="1400" b="0" i="0">
                <a:solidFill>
                  <a:srgbClr val="2A2A2A"/>
                </a:solidFill>
                <a:latin typeface="Calibri"/>
              </a:rPr>
              <a:t>Khi Use Index bật, ứng dụng tự theo dõi các thư mục (thanh trạng thái “Watch: active.”): tệp mới, sửa hoặc xoá được cập nhật tự động trong lúc ứng dụng đang mở.</a:t>
            </a:r>
          </a:p>
        </p:txBody>
      </p:sp>
      <p:sp>
        <p:nvSpPr>
          <p:cNvPr id="17" name="TextBox 16"/>
          <p:cNvSpPr txBox="1"/>
          <p:nvPr/>
        </p:nvSpPr>
        <p:spPr>
          <a:xfrm>
            <a:off x="6438747" y="2516124"/>
            <a:ext cx="5204307" cy="797052"/>
          </a:xfrm>
          <a:prstGeom prst="rect">
            <a:avLst/>
          </a:prstGeom>
          <a:noFill/>
        </p:spPr>
        <p:txBody>
          <a:bodyPr wrap="square" anchor="t" lIns="73152" rIns="73152" tIns="27432" bIns="27432">
            <a:spAutoFit/>
          </a:bodyPr>
          <a:lstStyle/>
          <a:p>
            <a:r>
              <a:rPr sz="1250" b="0" i="1">
                <a:solidFill>
                  <a:srgbClr val="6E6256"/>
                </a:solidFill>
                <a:latin typeface="Calibri"/>
              </a:rPr>
              <a:t>With Use Index on, the app watches your folders (status “Watch: active.”): new, edited or deleted files are updated automatically while the app is open.</a:t>
            </a:r>
          </a:p>
        </p:txBody>
      </p:sp>
      <p:sp>
        <p:nvSpPr>
          <p:cNvPr id="18" name="Oval 17"/>
          <p:cNvSpPr/>
          <p:nvPr/>
        </p:nvSpPr>
        <p:spPr>
          <a:xfrm>
            <a:off x="548640" y="3404616"/>
            <a:ext cx="329184" cy="329184"/>
          </a:xfrm>
          <a:prstGeom prst="ellipse">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Calibri"/>
              </a:rPr>
              <a:t>2</a:t>
            </a:r>
          </a:p>
        </p:txBody>
      </p:sp>
      <p:sp>
        <p:nvSpPr>
          <p:cNvPr id="19" name="TextBox 18"/>
          <p:cNvSpPr txBox="1"/>
          <p:nvPr/>
        </p:nvSpPr>
        <p:spPr>
          <a:xfrm>
            <a:off x="1005840" y="3368040"/>
            <a:ext cx="5204307" cy="580135"/>
          </a:xfrm>
          <a:prstGeom prst="rect">
            <a:avLst/>
          </a:prstGeom>
          <a:noFill/>
        </p:spPr>
        <p:txBody>
          <a:bodyPr wrap="square" anchor="t" lIns="73152" rIns="73152" tIns="27432" bIns="27432">
            <a:spAutoFit/>
          </a:bodyPr>
          <a:lstStyle/>
          <a:p>
            <a:r>
              <a:rPr sz="1400" b="0" i="0">
                <a:solidFill>
                  <a:srgbClr val="2A2A2A"/>
                </a:solidFill>
                <a:latin typeface="Calibri"/>
              </a:rPr>
              <a:t>Tệp thay đổi khi ứng dụng đóng, hoặc trên ổ mạng không báo thay đổi: bấm Update Index (Ctrl+U).</a:t>
            </a:r>
          </a:p>
        </p:txBody>
      </p:sp>
      <p:sp>
        <p:nvSpPr>
          <p:cNvPr id="20" name="TextBox 19"/>
          <p:cNvSpPr txBox="1"/>
          <p:nvPr/>
        </p:nvSpPr>
        <p:spPr>
          <a:xfrm>
            <a:off x="6438747" y="3368040"/>
            <a:ext cx="5204307" cy="580135"/>
          </a:xfrm>
          <a:prstGeom prst="rect">
            <a:avLst/>
          </a:prstGeom>
          <a:noFill/>
        </p:spPr>
        <p:txBody>
          <a:bodyPr wrap="square" anchor="t" lIns="73152" rIns="73152" tIns="27432" bIns="27432">
            <a:spAutoFit/>
          </a:bodyPr>
          <a:lstStyle/>
          <a:p>
            <a:r>
              <a:rPr sz="1250" b="0" i="1">
                <a:solidFill>
                  <a:srgbClr val="6E6256"/>
                </a:solidFill>
                <a:latin typeface="Calibri"/>
              </a:rPr>
              <a:t>For files changed while the app was closed, or on network drives that do not report changes: click Update Index (Ctrl+U).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7. Định dạng tệp được hỗ trợ</a:t>
            </a:r>
          </a:p>
          <a:p>
            <a:r>
              <a:rPr sz="1400" b="0" i="1">
                <a:solidFill>
                  <a:srgbClr val="F2C57B"/>
                </a:solidFill>
                <a:latin typeface="Calibri"/>
              </a:rPr>
              <a:t>Supported file types</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16</a:t>
            </a:r>
          </a:p>
        </p:txBody>
      </p:sp>
      <p:graphicFrame>
        <p:nvGraphicFramePr>
          <p:cNvPr id="9" name="Table 8"/>
          <p:cNvGraphicFramePr>
            <a:graphicFrameLocks noGrp="1"/>
          </p:cNvGraphicFramePr>
          <p:nvPr/>
        </p:nvGraphicFramePr>
        <p:xfrm>
          <a:off x="548640" y="1188720"/>
          <a:ext cx="11094414" cy="4123944"/>
        </p:xfrm>
        <a:graphic>
          <a:graphicData uri="http://schemas.openxmlformats.org/drawingml/2006/table">
            <a:tbl>
              <a:tblPr firstRow="0" bandRow="0">
                <a:tableStyleId>{5C22544A-7EE6-4342-B048-85BDC9FD1C3A}</a:tableStyleId>
              </a:tblPr>
              <a:tblGrid>
                <a:gridCol w="3772101"/>
                <a:gridCol w="1775106"/>
                <a:gridCol w="5547207"/>
              </a:tblGrid>
              <a:tr h="457200">
                <a:tc>
                  <a:txBody>
                    <a:bodyPr wrap="square"/>
                    <a:lstStyle/>
                    <a:p>
                      <a:r>
                        <a:rPr sz="1200" b="1">
                          <a:solidFill>
                            <a:srgbClr val="FFFFFF"/>
                          </a:solidFill>
                          <a:latin typeface="Calibri"/>
                        </a:rPr>
                        <a:t>Định dạng</a:t>
                      </a:r>
                    </a:p>
                    <a:p>
                      <a:r>
                        <a:rPr sz="1100" i="1">
                          <a:solidFill>
                            <a:srgbClr val="E9DCC6"/>
                          </a:solidFill>
                          <a:latin typeface="Calibri"/>
                        </a:rPr>
                        <a:t>Format</a:t>
                      </a:r>
                    </a:p>
                  </a:txBody>
                  <a:tcPr marL="64008" marR="64008" marT="27432" marB="27432" anchor="ctr">
                    <a:solidFill>
                      <a:srgbClr val="174349"/>
                    </a:solidFill>
                  </a:tcPr>
                </a:tc>
                <a:tc>
                  <a:txBody>
                    <a:bodyPr wrap="square"/>
                    <a:lstStyle/>
                    <a:p>
                      <a:r>
                        <a:rPr sz="1200" b="1">
                          <a:solidFill>
                            <a:srgbClr val="FFFFFF"/>
                          </a:solidFill>
                          <a:latin typeface="Calibri"/>
                        </a:rPr>
                        <a:t>Hỗ trợ</a:t>
                      </a:r>
                    </a:p>
                    <a:p>
                      <a:r>
                        <a:rPr sz="1100" i="1">
                          <a:solidFill>
                            <a:srgbClr val="E9DCC6"/>
                          </a:solidFill>
                          <a:latin typeface="Calibri"/>
                        </a:rPr>
                        <a:t>Support</a:t>
                      </a:r>
                    </a:p>
                  </a:txBody>
                  <a:tcPr marL="64008" marR="64008" marT="27432" marB="27432" anchor="ctr">
                    <a:solidFill>
                      <a:srgbClr val="174349"/>
                    </a:solidFill>
                  </a:tcPr>
                </a:tc>
                <a:tc>
                  <a:txBody>
                    <a:bodyPr wrap="square"/>
                    <a:lstStyle/>
                    <a:p>
                      <a:r>
                        <a:rPr sz="1200" b="1">
                          <a:solidFill>
                            <a:srgbClr val="FFFFFF"/>
                          </a:solidFill>
                          <a:latin typeface="Calibri"/>
                        </a:rPr>
                        <a:t>Ghi chú</a:t>
                      </a:r>
                    </a:p>
                    <a:p>
                      <a:r>
                        <a:rPr sz="1100" i="1">
                          <a:solidFill>
                            <a:srgbClr val="E9DCC6"/>
                          </a:solidFill>
                          <a:latin typeface="Calibri"/>
                        </a:rPr>
                        <a:t>Notes</a:t>
                      </a:r>
                    </a:p>
                  </a:txBody>
                  <a:tcPr marL="64008" marR="64008" marT="27432" marB="27432" anchor="ctr">
                    <a:solidFill>
                      <a:srgbClr val="174349"/>
                    </a:solidFill>
                  </a:tcPr>
                </a:tc>
              </a:tr>
              <a:tr h="458343">
                <a:tc>
                  <a:txBody>
                    <a:bodyPr wrap="square"/>
                    <a:lstStyle/>
                    <a:p>
                      <a:r>
                        <a:rPr sz="1200" b="1">
                          <a:solidFill>
                            <a:srgbClr val="2A2A2A"/>
                          </a:solidFill>
                          <a:latin typeface="Calibri"/>
                        </a:rPr>
                        <a:t>.txt .md .csv .json .yml .yaml .py .log</a:t>
                      </a:r>
                    </a:p>
                  </a:txBody>
                  <a:tcPr marL="64008" marR="64008" marT="27432" marB="27432" anchor="t">
                    <a:solidFill>
                      <a:srgbClr val="FFFDF8"/>
                    </a:solidFill>
                  </a:tcPr>
                </a:tc>
                <a:tc>
                  <a:txBody>
                    <a:bodyPr wrap="square"/>
                    <a:lstStyle/>
                    <a:p>
                      <a:r>
                        <a:rPr sz="1200" b="0">
                          <a:solidFill>
                            <a:srgbClr val="2A2A2A"/>
                          </a:solidFill>
                          <a:latin typeface="Calibri"/>
                        </a:rPr>
                        <a:t>Có</a:t>
                      </a:r>
                    </a:p>
                    <a:p>
                      <a:r>
                        <a:rPr sz="1100" i="1">
                          <a:solidFill>
                            <a:srgbClr val="6E6256"/>
                          </a:solidFill>
                          <a:latin typeface="Calibri"/>
                        </a:rPr>
                        <a:t>Yes</a:t>
                      </a:r>
                    </a:p>
                  </a:txBody>
                  <a:tcPr marL="64008" marR="64008" marT="27432" marB="27432" anchor="t">
                    <a:solidFill>
                      <a:srgbClr val="FFFDF8"/>
                    </a:solidFill>
                  </a:tcPr>
                </a:tc>
                <a:tc>
                  <a:txBody>
                    <a:bodyPr wrap="square"/>
                    <a:lstStyle/>
                    <a:p>
                      <a:r>
                        <a:rPr sz="1200" b="0">
                          <a:solidFill>
                            <a:srgbClr val="2A2A2A"/>
                          </a:solidFill>
                          <a:latin typeface="Calibri"/>
                        </a:rPr>
                        <a:t>Văn bản thuần.</a:t>
                      </a:r>
                    </a:p>
                    <a:p>
                      <a:r>
                        <a:rPr sz="1100" i="1">
                          <a:solidFill>
                            <a:srgbClr val="6E6256"/>
                          </a:solidFill>
                          <a:latin typeface="Calibri"/>
                        </a:rPr>
                        <a:t>Plain text.</a:t>
                      </a:r>
                    </a:p>
                  </a:txBody>
                  <a:tcPr marL="64008" marR="64008" marT="27432" marB="27432" anchor="t">
                    <a:solidFill>
                      <a:srgbClr val="FFFDF8"/>
                    </a:solidFill>
                  </a:tcPr>
                </a:tc>
              </a:tr>
              <a:tr h="458343">
                <a:tc>
                  <a:txBody>
                    <a:bodyPr wrap="square"/>
                    <a:lstStyle/>
                    <a:p>
                      <a:r>
                        <a:rPr sz="1200" b="1">
                          <a:solidFill>
                            <a:srgbClr val="2A2A2A"/>
                          </a:solidFill>
                          <a:latin typeface="Calibri"/>
                        </a:rPr>
                        <a:t>.html .htm</a:t>
                      </a:r>
                    </a:p>
                  </a:txBody>
                  <a:tcPr marL="64008" marR="64008" marT="27432" marB="27432" anchor="t">
                    <a:solidFill>
                      <a:srgbClr val="FFF7E9"/>
                    </a:solidFill>
                  </a:tcPr>
                </a:tc>
                <a:tc>
                  <a:txBody>
                    <a:bodyPr wrap="square"/>
                    <a:lstStyle/>
                    <a:p>
                      <a:r>
                        <a:rPr sz="1200" b="0">
                          <a:solidFill>
                            <a:srgbClr val="2A2A2A"/>
                          </a:solidFill>
                          <a:latin typeface="Calibri"/>
                        </a:rPr>
                        <a:t>Có</a:t>
                      </a:r>
                    </a:p>
                    <a:p>
                      <a:r>
                        <a:rPr sz="1100" i="1">
                          <a:solidFill>
                            <a:srgbClr val="6E6256"/>
                          </a:solidFill>
                          <a:latin typeface="Calibri"/>
                        </a:rPr>
                        <a:t>Yes</a:t>
                      </a:r>
                    </a:p>
                  </a:txBody>
                  <a:tcPr marL="64008" marR="64008" marT="27432" marB="27432" anchor="t">
                    <a:solidFill>
                      <a:srgbClr val="FFF7E9"/>
                    </a:solidFill>
                  </a:tcPr>
                </a:tc>
                <a:tc>
                  <a:txBody>
                    <a:bodyPr wrap="square"/>
                    <a:lstStyle/>
                    <a:p>
                      <a:r>
                        <a:rPr sz="1200" b="0">
                          <a:solidFill>
                            <a:srgbClr val="2A2A2A"/>
                          </a:solidFill>
                          <a:latin typeface="Calibri"/>
                        </a:rPr>
                        <a:t>Thẻ HTML được lược bỏ, chỉ giữ chữ.</a:t>
                      </a:r>
                    </a:p>
                    <a:p>
                      <a:r>
                        <a:rPr sz="1100" i="1">
                          <a:solidFill>
                            <a:srgbClr val="6E6256"/>
                          </a:solidFill>
                          <a:latin typeface="Calibri"/>
                        </a:rPr>
                        <a:t>Tags are stripped, text kept.</a:t>
                      </a:r>
                    </a:p>
                  </a:txBody>
                  <a:tcPr marL="64008" marR="64008" marT="27432" marB="27432" anchor="t">
                    <a:solidFill>
                      <a:srgbClr val="FFF7E9"/>
                    </a:solidFill>
                  </a:tcPr>
                </a:tc>
              </a:tr>
              <a:tr h="458343">
                <a:tc>
                  <a:txBody>
                    <a:bodyPr wrap="square"/>
                    <a:lstStyle/>
                    <a:p>
                      <a:r>
                        <a:rPr sz="1200" b="1">
                          <a:solidFill>
                            <a:srgbClr val="2A2A2A"/>
                          </a:solidFill>
                          <a:latin typeface="Calibri"/>
                        </a:rPr>
                        <a:t>.docx .odt .rtf</a:t>
                      </a:r>
                    </a:p>
                  </a:txBody>
                  <a:tcPr marL="64008" marR="64008" marT="27432" marB="27432" anchor="t">
                    <a:solidFill>
                      <a:srgbClr val="FFFDF8"/>
                    </a:solidFill>
                  </a:tcPr>
                </a:tc>
                <a:tc>
                  <a:txBody>
                    <a:bodyPr wrap="square"/>
                    <a:lstStyle/>
                    <a:p>
                      <a:r>
                        <a:rPr sz="1200" b="0">
                          <a:solidFill>
                            <a:srgbClr val="2A2A2A"/>
                          </a:solidFill>
                          <a:latin typeface="Calibri"/>
                        </a:rPr>
                        <a:t>Có</a:t>
                      </a:r>
                    </a:p>
                    <a:p>
                      <a:r>
                        <a:rPr sz="1100" i="1">
                          <a:solidFill>
                            <a:srgbClr val="6E6256"/>
                          </a:solidFill>
                          <a:latin typeface="Calibri"/>
                        </a:rPr>
                        <a:t>Yes</a:t>
                      </a:r>
                    </a:p>
                  </a:txBody>
                  <a:tcPr marL="64008" marR="64008" marT="27432" marB="27432" anchor="t">
                    <a:solidFill>
                      <a:srgbClr val="FFFDF8"/>
                    </a:solidFill>
                  </a:tcPr>
                </a:tc>
                <a:tc>
                  <a:txBody>
                    <a:bodyPr wrap="square"/>
                    <a:lstStyle/>
                    <a:p>
                      <a:r>
                        <a:rPr sz="1200" b="0">
                          <a:solidFill>
                            <a:srgbClr val="2A2A2A"/>
                          </a:solidFill>
                          <a:latin typeface="Calibri"/>
                        </a:rPr>
                        <a:t>Đọc nội dung chữ chính.</a:t>
                      </a:r>
                    </a:p>
                    <a:p>
                      <a:r>
                        <a:rPr sz="1100" i="1">
                          <a:solidFill>
                            <a:srgbClr val="6E6256"/>
                          </a:solidFill>
                          <a:latin typeface="Calibri"/>
                        </a:rPr>
                        <a:t>Main body text is read.</a:t>
                      </a:r>
                    </a:p>
                  </a:txBody>
                  <a:tcPr marL="64008" marR="64008" marT="27432" marB="27432" anchor="t">
                    <a:solidFill>
                      <a:srgbClr val="FFFDF8"/>
                    </a:solidFill>
                  </a:tcPr>
                </a:tc>
              </a:tr>
              <a:tr h="458343">
                <a:tc>
                  <a:txBody>
                    <a:bodyPr wrap="square"/>
                    <a:lstStyle/>
                    <a:p>
                      <a:r>
                        <a:rPr sz="1200" b="1">
                          <a:solidFill>
                            <a:srgbClr val="2A2A2A"/>
                          </a:solidFill>
                          <a:latin typeface="Calibri"/>
                        </a:rPr>
                        <a:t>.doc</a:t>
                      </a:r>
                    </a:p>
                  </a:txBody>
                  <a:tcPr marL="64008" marR="64008" marT="27432" marB="27432" anchor="t">
                    <a:solidFill>
                      <a:srgbClr val="FFF7E9"/>
                    </a:solidFill>
                  </a:tcPr>
                </a:tc>
                <a:tc>
                  <a:txBody>
                    <a:bodyPr wrap="square"/>
                    <a:lstStyle/>
                    <a:p>
                      <a:r>
                        <a:rPr sz="1200" b="0">
                          <a:solidFill>
                            <a:srgbClr val="2A2A2A"/>
                          </a:solidFill>
                          <a:latin typeface="Calibri"/>
                        </a:rPr>
                        <a:t>Hạn chế</a:t>
                      </a:r>
                    </a:p>
                    <a:p>
                      <a:r>
                        <a:rPr sz="1100" i="1">
                          <a:solidFill>
                            <a:srgbClr val="6E6256"/>
                          </a:solidFill>
                          <a:latin typeface="Calibri"/>
                        </a:rPr>
                        <a:t>Limited</a:t>
                      </a:r>
                    </a:p>
                  </a:txBody>
                  <a:tcPr marL="64008" marR="64008" marT="27432" marB="27432" anchor="t">
                    <a:solidFill>
                      <a:srgbClr val="FFF7E9"/>
                    </a:solidFill>
                  </a:tcPr>
                </a:tc>
                <a:tc>
                  <a:txBody>
                    <a:bodyPr wrap="square"/>
                    <a:lstStyle/>
                    <a:p>
                      <a:r>
                        <a:rPr sz="1200" b="0">
                          <a:solidFill>
                            <a:srgbClr val="2A2A2A"/>
                          </a:solidFill>
                          <a:latin typeface="Calibri"/>
                        </a:rPr>
                        <a:t>Cần công cụ antiword; nếu không, hãy lưu lại thành .docx.</a:t>
                      </a:r>
                    </a:p>
                    <a:p>
                      <a:r>
                        <a:rPr sz="1100" i="1">
                          <a:solidFill>
                            <a:srgbClr val="6E6256"/>
                          </a:solidFill>
                          <a:latin typeface="Calibri"/>
                        </a:rPr>
                        <a:t>Needs the antiword tool; otherwise save the file as .docx.</a:t>
                      </a:r>
                    </a:p>
                  </a:txBody>
                  <a:tcPr marL="64008" marR="64008" marT="27432" marB="27432" anchor="t">
                    <a:solidFill>
                      <a:srgbClr val="FFF7E9"/>
                    </a:solidFill>
                  </a:tcPr>
                </a:tc>
              </a:tr>
              <a:tr h="458343">
                <a:tc>
                  <a:txBody>
                    <a:bodyPr wrap="square"/>
                    <a:lstStyle/>
                    <a:p>
                      <a:r>
                        <a:rPr sz="1200" b="1">
                          <a:solidFill>
                            <a:srgbClr val="2A2A2A"/>
                          </a:solidFill>
                          <a:latin typeface="Calibri"/>
                        </a:rPr>
                        <a:t>.pdf</a:t>
                      </a:r>
                    </a:p>
                  </a:txBody>
                  <a:tcPr marL="64008" marR="64008" marT="27432" marB="27432" anchor="t">
                    <a:solidFill>
                      <a:srgbClr val="FFFDF8"/>
                    </a:solidFill>
                  </a:tcPr>
                </a:tc>
                <a:tc>
                  <a:txBody>
                    <a:bodyPr wrap="square"/>
                    <a:lstStyle/>
                    <a:p>
                      <a:r>
                        <a:rPr sz="1200" b="0">
                          <a:solidFill>
                            <a:srgbClr val="2A2A2A"/>
                          </a:solidFill>
                          <a:latin typeface="Calibri"/>
                        </a:rPr>
                        <a:t>Có (PDF có chữ)</a:t>
                      </a:r>
                    </a:p>
                    <a:p>
                      <a:r>
                        <a:rPr sz="1100" i="1">
                          <a:solidFill>
                            <a:srgbClr val="6E6256"/>
                          </a:solidFill>
                          <a:latin typeface="Calibri"/>
                        </a:rPr>
                        <a:t>Yes (text PDFs)</a:t>
                      </a:r>
                    </a:p>
                  </a:txBody>
                  <a:tcPr marL="64008" marR="64008" marT="27432" marB="27432" anchor="t">
                    <a:solidFill>
                      <a:srgbClr val="FFFDF8"/>
                    </a:solidFill>
                  </a:tcPr>
                </a:tc>
                <a:tc>
                  <a:txBody>
                    <a:bodyPr wrap="square"/>
                    <a:lstStyle/>
                    <a:p>
                      <a:r>
                        <a:rPr sz="1200" b="0">
                          <a:solidFill>
                            <a:srgbClr val="2A2A2A"/>
                          </a:solidFill>
                          <a:latin typeface="Calibri"/>
                        </a:rPr>
                        <a:t>PDF ảnh quét không có chữ nên không tìm được.</a:t>
                      </a:r>
                    </a:p>
                    <a:p>
                      <a:r>
                        <a:rPr sz="1100" i="1">
                          <a:solidFill>
                            <a:srgbClr val="6E6256"/>
                          </a:solidFill>
                          <a:latin typeface="Calibri"/>
                        </a:rPr>
                        <a:t>Scanned-image PDFs have no text and cannot be searched.</a:t>
                      </a:r>
                    </a:p>
                  </a:txBody>
                  <a:tcPr marL="64008" marR="64008" marT="27432" marB="27432" anchor="t">
                    <a:solidFill>
                      <a:srgbClr val="FFFDF8"/>
                    </a:solidFill>
                  </a:tcPr>
                </a:tc>
              </a:tr>
              <a:tr h="458343">
                <a:tc>
                  <a:txBody>
                    <a:bodyPr wrap="square"/>
                    <a:lstStyle/>
                    <a:p>
                      <a:r>
                        <a:rPr sz="1200" b="1">
                          <a:solidFill>
                            <a:srgbClr val="2A2A2A"/>
                          </a:solidFill>
                          <a:latin typeface="Calibri"/>
                        </a:rPr>
                        <a:t>.xlsx .xlsm .xltx .xltm .xls</a:t>
                      </a:r>
                    </a:p>
                  </a:txBody>
                  <a:tcPr marL="64008" marR="64008" marT="27432" marB="27432" anchor="t">
                    <a:solidFill>
                      <a:srgbClr val="FFF7E9"/>
                    </a:solidFill>
                  </a:tcPr>
                </a:tc>
                <a:tc>
                  <a:txBody>
                    <a:bodyPr wrap="square"/>
                    <a:lstStyle/>
                    <a:p>
                      <a:r>
                        <a:rPr sz="1200" b="0">
                          <a:solidFill>
                            <a:srgbClr val="2A2A2A"/>
                          </a:solidFill>
                          <a:latin typeface="Calibri"/>
                        </a:rPr>
                        <a:t>Có</a:t>
                      </a:r>
                    </a:p>
                    <a:p>
                      <a:r>
                        <a:rPr sz="1100" i="1">
                          <a:solidFill>
                            <a:srgbClr val="6E6256"/>
                          </a:solidFill>
                          <a:latin typeface="Calibri"/>
                        </a:rPr>
                        <a:t>Yes</a:t>
                      </a:r>
                    </a:p>
                  </a:txBody>
                  <a:tcPr marL="64008" marR="64008" marT="27432" marB="27432" anchor="t">
                    <a:solidFill>
                      <a:srgbClr val="FFF7E9"/>
                    </a:solidFill>
                  </a:tcPr>
                </a:tc>
                <a:tc>
                  <a:txBody>
                    <a:bodyPr wrap="square"/>
                    <a:lstStyle/>
                    <a:p>
                      <a:r>
                        <a:rPr sz="1200" b="0">
                          <a:solidFill>
                            <a:srgbClr val="2A2A2A"/>
                          </a:solidFill>
                          <a:latin typeface="Calibri"/>
                        </a:rPr>
                        <a:t>Đọc mọi ô của mọi trang tính.</a:t>
                      </a:r>
                    </a:p>
                    <a:p>
                      <a:r>
                        <a:rPr sz="1100" i="1">
                          <a:solidFill>
                            <a:srgbClr val="6E6256"/>
                          </a:solidFill>
                          <a:latin typeface="Calibri"/>
                        </a:rPr>
                        <a:t>Reads every cell on every sheet.</a:t>
                      </a:r>
                    </a:p>
                  </a:txBody>
                  <a:tcPr marL="64008" marR="64008" marT="27432" marB="27432" anchor="t">
                    <a:solidFill>
                      <a:srgbClr val="FFF7E9"/>
                    </a:solidFill>
                  </a:tcPr>
                </a:tc>
              </a:tr>
              <a:tr h="458343">
                <a:tc>
                  <a:txBody>
                    <a:bodyPr wrap="square"/>
                    <a:lstStyle/>
                    <a:p>
                      <a:r>
                        <a:rPr sz="1200" b="1">
                          <a:solidFill>
                            <a:srgbClr val="2A2A2A"/>
                          </a:solidFill>
                          <a:latin typeface="Calibri"/>
                        </a:rPr>
                        <a:t>.xlsb</a:t>
                      </a:r>
                    </a:p>
                  </a:txBody>
                  <a:tcPr marL="64008" marR="64008" marT="27432" marB="27432" anchor="t">
                    <a:solidFill>
                      <a:srgbClr val="FFFDF8"/>
                    </a:solidFill>
                  </a:tcPr>
                </a:tc>
                <a:tc>
                  <a:txBody>
                    <a:bodyPr wrap="square"/>
                    <a:lstStyle/>
                    <a:p>
                      <a:r>
                        <a:rPr sz="1200" b="0">
                          <a:solidFill>
                            <a:srgbClr val="2A2A2A"/>
                          </a:solidFill>
                          <a:latin typeface="Calibri"/>
                        </a:rPr>
                        <a:t>Hạn chế</a:t>
                      </a:r>
                    </a:p>
                    <a:p>
                      <a:r>
                        <a:rPr sz="1100" i="1">
                          <a:solidFill>
                            <a:srgbClr val="6E6256"/>
                          </a:solidFill>
                          <a:latin typeface="Calibri"/>
                        </a:rPr>
                        <a:t>Limited</a:t>
                      </a:r>
                    </a:p>
                  </a:txBody>
                  <a:tcPr marL="64008" marR="64008" marT="27432" marB="27432" anchor="t">
                    <a:solidFill>
                      <a:srgbClr val="FFFDF8"/>
                    </a:solidFill>
                  </a:tcPr>
                </a:tc>
                <a:tc>
                  <a:txBody>
                    <a:bodyPr wrap="square"/>
                    <a:lstStyle/>
                    <a:p>
                      <a:r>
                        <a:rPr sz="1200" b="0">
                          <a:solidFill>
                            <a:srgbClr val="2A2A2A"/>
                          </a:solidFill>
                          <a:latin typeface="Calibri"/>
                        </a:rPr>
                        <a:t>Chỉ khi máy có LibreOffice.</a:t>
                      </a:r>
                    </a:p>
                    <a:p>
                      <a:r>
                        <a:rPr sz="1100" i="1">
                          <a:solidFill>
                            <a:srgbClr val="6E6256"/>
                          </a:solidFill>
                          <a:latin typeface="Calibri"/>
                        </a:rPr>
                        <a:t>Only if LibreOffice is installed.</a:t>
                      </a:r>
                    </a:p>
                  </a:txBody>
                  <a:tcPr marL="64008" marR="64008" marT="27432" marB="27432" anchor="t">
                    <a:solidFill>
                      <a:srgbClr val="FFFDF8"/>
                    </a:solidFill>
                  </a:tcPr>
                </a:tc>
              </a:tr>
              <a:tr h="458343">
                <a:tc>
                  <a:txBody>
                    <a:bodyPr wrap="square"/>
                    <a:lstStyle/>
                    <a:p>
                      <a:r>
                        <a:rPr sz="1200" b="1">
                          <a:solidFill>
                            <a:srgbClr val="2A2A2A"/>
                          </a:solidFill>
                          <a:latin typeface="Calibri"/>
                        </a:rPr>
                        <a:t>.ppt .pptx</a:t>
                      </a:r>
                    </a:p>
                  </a:txBody>
                  <a:tcPr marL="64008" marR="64008" marT="27432" marB="27432" anchor="t">
                    <a:solidFill>
                      <a:srgbClr val="FFF7E9"/>
                    </a:solidFill>
                  </a:tcPr>
                </a:tc>
                <a:tc>
                  <a:txBody>
                    <a:bodyPr wrap="square"/>
                    <a:lstStyle/>
                    <a:p>
                      <a:r>
                        <a:rPr sz="1200" b="0">
                          <a:solidFill>
                            <a:srgbClr val="2A2A2A"/>
                          </a:solidFill>
                          <a:latin typeface="Calibri"/>
                        </a:rPr>
                        <a:t>Không</a:t>
                      </a:r>
                    </a:p>
                    <a:p>
                      <a:r>
                        <a:rPr sz="1100" i="1">
                          <a:solidFill>
                            <a:srgbClr val="6E6256"/>
                          </a:solidFill>
                          <a:latin typeface="Calibri"/>
                        </a:rPr>
                        <a:t>No</a:t>
                      </a:r>
                    </a:p>
                  </a:txBody>
                  <a:tcPr marL="64008" marR="64008" marT="27432" marB="27432" anchor="t">
                    <a:solidFill>
                      <a:srgbClr val="FFF7E9"/>
                    </a:solidFill>
                  </a:tcPr>
                </a:tc>
                <a:tc>
                  <a:txBody>
                    <a:bodyPr wrap="square"/>
                    <a:lstStyle/>
                    <a:p>
                      <a:r>
                        <a:rPr sz="1200" b="0">
                          <a:solidFill>
                            <a:srgbClr val="2A2A2A"/>
                          </a:solidFill>
                          <a:latin typeface="Calibri"/>
                        </a:rPr>
                        <a:t>Chưa hỗ trợ.</a:t>
                      </a:r>
                    </a:p>
                    <a:p>
                      <a:r>
                        <a:rPr sz="1100" i="1">
                          <a:solidFill>
                            <a:srgbClr val="6E6256"/>
                          </a:solidFill>
                          <a:latin typeface="Calibri"/>
                        </a:rPr>
                        <a:t>Not supported.</a:t>
                      </a:r>
                    </a:p>
                  </a:txBody>
                  <a:tcPr marL="64008" marR="64008" marT="27432" marB="27432" anchor="t">
                    <a:solidFill>
                      <a:srgbClr val="FFF7E9"/>
                    </a:solidFill>
                  </a:tcPr>
                </a:tc>
              </a:tr>
            </a:tbl>
          </a:graphicData>
        </a:graphic>
      </p:graphicFrame>
      <p:sp>
        <p:nvSpPr>
          <p:cNvPr id="10" name="Rectangle 9"/>
          <p:cNvSpPr/>
          <p:nvPr/>
        </p:nvSpPr>
        <p:spPr>
          <a:xfrm>
            <a:off x="548640" y="5449823"/>
            <a:ext cx="11094415" cy="551688"/>
          </a:xfrm>
          <a:prstGeom prst="rect">
            <a:avLst/>
          </a:prstGeom>
          <a:solidFill>
            <a:srgbClr val="FFF7E9"/>
          </a:solidFill>
          <a:ln w="15875">
            <a:solidFill>
              <a:srgbClr val="E89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449823"/>
            <a:ext cx="91440" cy="551688"/>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468111"/>
            <a:ext cx="5295747" cy="228600"/>
          </a:xfrm>
          <a:prstGeom prst="rect">
            <a:avLst/>
          </a:prstGeom>
          <a:noFill/>
        </p:spPr>
        <p:txBody>
          <a:bodyPr wrap="square" anchor="t" lIns="73152" rIns="73152" tIns="27432" bIns="27432">
            <a:spAutoFit/>
          </a:bodyPr>
          <a:lstStyle/>
          <a:p>
            <a:r>
              <a:rPr sz="1000" b="1" i="0">
                <a:solidFill>
                  <a:srgbClr val="E89E3A"/>
                </a:solidFill>
                <a:latin typeface="Calibri"/>
              </a:rPr>
              <a:t>Mẹo / Tip</a:t>
            </a:r>
          </a:p>
        </p:txBody>
      </p:sp>
      <p:sp>
        <p:nvSpPr>
          <p:cNvPr id="13" name="TextBox 12"/>
          <p:cNvSpPr txBox="1"/>
          <p:nvPr/>
        </p:nvSpPr>
        <p:spPr>
          <a:xfrm>
            <a:off x="731520" y="5669279"/>
            <a:ext cx="5295747" cy="313944"/>
          </a:xfrm>
          <a:prstGeom prst="rect">
            <a:avLst/>
          </a:prstGeom>
          <a:noFill/>
        </p:spPr>
        <p:txBody>
          <a:bodyPr wrap="square" anchor="t" lIns="73152" rIns="73152" tIns="27432" bIns="27432">
            <a:spAutoFit/>
          </a:bodyPr>
          <a:lstStyle/>
          <a:p>
            <a:r>
              <a:rPr sz="1200" b="0" i="0">
                <a:solidFill>
                  <a:srgbClr val="2A2A2A"/>
                </a:solidFill>
                <a:latin typeface="Calibri"/>
              </a:rPr>
              <a:t>Mỗi tệp chỉ lập chỉ mục tối đa khoảng 2 MB chữ đầu tiên.</a:t>
            </a:r>
          </a:p>
        </p:txBody>
      </p:sp>
      <p:sp>
        <p:nvSpPr>
          <p:cNvPr id="14" name="TextBox 13"/>
          <p:cNvSpPr txBox="1"/>
          <p:nvPr/>
        </p:nvSpPr>
        <p:spPr>
          <a:xfrm>
            <a:off x="6255867" y="5669279"/>
            <a:ext cx="5295747" cy="313944"/>
          </a:xfrm>
          <a:prstGeom prst="rect">
            <a:avLst/>
          </a:prstGeom>
          <a:noFill/>
        </p:spPr>
        <p:txBody>
          <a:bodyPr wrap="square" anchor="t" lIns="73152" rIns="73152" tIns="27432" bIns="27432">
            <a:spAutoFit/>
          </a:bodyPr>
          <a:lstStyle/>
          <a:p>
            <a:r>
              <a:rPr sz="1050" b="0" i="1">
                <a:solidFill>
                  <a:srgbClr val="6E6256"/>
                </a:solidFill>
                <a:latin typeface="Calibri"/>
              </a:rPr>
              <a:t>At most the first ~2 MB of text per file is indexed.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8. Phím tắt</a:t>
            </a:r>
          </a:p>
          <a:p>
            <a:r>
              <a:rPr sz="1400" b="0" i="1">
                <a:solidFill>
                  <a:srgbClr val="F2C57B"/>
                </a:solidFill>
                <a:latin typeface="Calibri"/>
              </a:rPr>
              <a:t>Keyboard shortcuts</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17</a:t>
            </a:r>
          </a:p>
        </p:txBody>
      </p:sp>
      <p:graphicFrame>
        <p:nvGraphicFramePr>
          <p:cNvPr id="9" name="Table 8"/>
          <p:cNvGraphicFramePr>
            <a:graphicFrameLocks noGrp="1"/>
          </p:cNvGraphicFramePr>
          <p:nvPr/>
        </p:nvGraphicFramePr>
        <p:xfrm>
          <a:off x="548640" y="1188720"/>
          <a:ext cx="11094414" cy="5040630"/>
        </p:xfrm>
        <a:graphic>
          <a:graphicData uri="http://schemas.openxmlformats.org/drawingml/2006/table">
            <a:tbl>
              <a:tblPr firstRow="0" bandRow="0">
                <a:tableStyleId>{5C22544A-7EE6-4342-B048-85BDC9FD1C3A}</a:tableStyleId>
              </a:tblPr>
              <a:tblGrid>
                <a:gridCol w="3328324"/>
                <a:gridCol w="7766090"/>
              </a:tblGrid>
              <a:tr h="457200">
                <a:tc>
                  <a:txBody>
                    <a:bodyPr wrap="square"/>
                    <a:lstStyle/>
                    <a:p>
                      <a:r>
                        <a:rPr sz="1200" b="1">
                          <a:solidFill>
                            <a:srgbClr val="FFFFFF"/>
                          </a:solidFill>
                          <a:latin typeface="Calibri"/>
                        </a:rPr>
                        <a:t>Phím</a:t>
                      </a:r>
                    </a:p>
                    <a:p>
                      <a:r>
                        <a:rPr sz="1100" i="1">
                          <a:solidFill>
                            <a:srgbClr val="E9DCC6"/>
                          </a:solidFill>
                          <a:latin typeface="Calibri"/>
                        </a:rPr>
                        <a:t>Keys</a:t>
                      </a:r>
                    </a:p>
                  </a:txBody>
                  <a:tcPr marL="64008" marR="64008" marT="27432" marB="27432" anchor="ctr">
                    <a:solidFill>
                      <a:srgbClr val="174349"/>
                    </a:solidFill>
                  </a:tcPr>
                </a:tc>
                <a:tc>
                  <a:txBody>
                    <a:bodyPr wrap="square"/>
                    <a:lstStyle/>
                    <a:p>
                      <a:r>
                        <a:rPr sz="1200" b="1">
                          <a:solidFill>
                            <a:srgbClr val="FFFFFF"/>
                          </a:solidFill>
                          <a:latin typeface="Calibri"/>
                        </a:rPr>
                        <a:t>Tác dụng</a:t>
                      </a:r>
                    </a:p>
                    <a:p>
                      <a:r>
                        <a:rPr sz="1100" i="1">
                          <a:solidFill>
                            <a:srgbClr val="E9DCC6"/>
                          </a:solidFill>
                          <a:latin typeface="Calibri"/>
                        </a:rPr>
                        <a:t>Action</a:t>
                      </a:r>
                    </a:p>
                  </a:txBody>
                  <a:tcPr marL="64008" marR="64008" marT="27432" marB="27432" anchor="ctr">
                    <a:solidFill>
                      <a:srgbClr val="174349"/>
                    </a:solidFill>
                  </a:tcPr>
                </a:tc>
              </a:tr>
              <a:tr h="458343">
                <a:tc>
                  <a:txBody>
                    <a:bodyPr wrap="square"/>
                    <a:lstStyle/>
                    <a:p>
                      <a:r>
                        <a:rPr sz="1200" b="1">
                          <a:solidFill>
                            <a:srgbClr val="2A2A2A"/>
                          </a:solidFill>
                          <a:latin typeface="Calibri"/>
                        </a:rPr>
                        <a:t>Enter</a:t>
                      </a:r>
                    </a:p>
                  </a:txBody>
                  <a:tcPr marL="64008" marR="64008" marT="27432" marB="27432" anchor="t">
                    <a:solidFill>
                      <a:srgbClr val="FFFDF8"/>
                    </a:solidFill>
                  </a:tcPr>
                </a:tc>
                <a:tc>
                  <a:txBody>
                    <a:bodyPr wrap="square"/>
                    <a:lstStyle/>
                    <a:p>
                      <a:r>
                        <a:rPr sz="1200" b="0">
                          <a:solidFill>
                            <a:srgbClr val="2A2A2A"/>
                          </a:solidFill>
                          <a:latin typeface="Calibri"/>
                        </a:rPr>
                        <a:t>Tìm kiếm (khi con trỏ ở ô từ khoá/ngày)</a:t>
                      </a:r>
                    </a:p>
                    <a:p>
                      <a:r>
                        <a:rPr sz="1100" i="1">
                          <a:solidFill>
                            <a:srgbClr val="6E6256"/>
                          </a:solidFill>
                          <a:latin typeface="Calibri"/>
                        </a:rPr>
                        <a:t>Search (when the cursor is in the keyword/date boxes)</a:t>
                      </a:r>
                    </a:p>
                  </a:txBody>
                  <a:tcPr marL="64008" marR="64008" marT="27432" marB="27432" anchor="t">
                    <a:solidFill>
                      <a:srgbClr val="FFFDF8"/>
                    </a:solidFill>
                  </a:tcPr>
                </a:tc>
              </a:tr>
              <a:tr h="458343">
                <a:tc>
                  <a:txBody>
                    <a:bodyPr wrap="square"/>
                    <a:lstStyle/>
                    <a:p>
                      <a:r>
                        <a:rPr sz="1200" b="1">
                          <a:solidFill>
                            <a:srgbClr val="2A2A2A"/>
                          </a:solidFill>
                          <a:latin typeface="Calibri"/>
                        </a:rPr>
                        <a:t>Ctrl+O</a:t>
                      </a:r>
                    </a:p>
                  </a:txBody>
                  <a:tcPr marL="64008" marR="64008" marT="27432" marB="27432" anchor="t">
                    <a:solidFill>
                      <a:srgbClr val="FFF7E9"/>
                    </a:solidFill>
                  </a:tcPr>
                </a:tc>
                <a:tc>
                  <a:txBody>
                    <a:bodyPr wrap="square"/>
                    <a:lstStyle/>
                    <a:p>
                      <a:r>
                        <a:rPr sz="1200" b="0">
                          <a:solidFill>
                            <a:srgbClr val="2A2A2A"/>
                          </a:solidFill>
                          <a:latin typeface="Calibri"/>
                        </a:rPr>
                        <a:t>Thêm thư mục</a:t>
                      </a:r>
                    </a:p>
                    <a:p>
                      <a:r>
                        <a:rPr sz="1100" i="1">
                          <a:solidFill>
                            <a:srgbClr val="6E6256"/>
                          </a:solidFill>
                          <a:latin typeface="Calibri"/>
                        </a:rPr>
                        <a:t>Add folder</a:t>
                      </a:r>
                    </a:p>
                  </a:txBody>
                  <a:tcPr marL="64008" marR="64008" marT="27432" marB="27432" anchor="t">
                    <a:solidFill>
                      <a:srgbClr val="FFF7E9"/>
                    </a:solidFill>
                  </a:tcPr>
                </a:tc>
              </a:tr>
              <a:tr h="458343">
                <a:tc>
                  <a:txBody>
                    <a:bodyPr wrap="square"/>
                    <a:lstStyle/>
                    <a:p>
                      <a:r>
                        <a:rPr sz="1200" b="1">
                          <a:solidFill>
                            <a:srgbClr val="2A2A2A"/>
                          </a:solidFill>
                          <a:latin typeface="Calibri"/>
                        </a:rPr>
                        <a:t>Ctrl+U</a:t>
                      </a:r>
                    </a:p>
                  </a:txBody>
                  <a:tcPr marL="64008" marR="64008" marT="27432" marB="27432" anchor="t">
                    <a:solidFill>
                      <a:srgbClr val="FFFDF8"/>
                    </a:solidFill>
                  </a:tcPr>
                </a:tc>
                <a:tc>
                  <a:txBody>
                    <a:bodyPr wrap="square"/>
                    <a:lstStyle/>
                    <a:p>
                      <a:r>
                        <a:rPr sz="1200" b="0">
                          <a:solidFill>
                            <a:srgbClr val="2A2A2A"/>
                          </a:solidFill>
                          <a:latin typeface="Calibri"/>
                        </a:rPr>
                        <a:t>Cập nhật chỉ mục</a:t>
                      </a:r>
                    </a:p>
                    <a:p>
                      <a:r>
                        <a:rPr sz="1100" i="1">
                          <a:solidFill>
                            <a:srgbClr val="6E6256"/>
                          </a:solidFill>
                          <a:latin typeface="Calibri"/>
                        </a:rPr>
                        <a:t>Update index</a:t>
                      </a:r>
                    </a:p>
                  </a:txBody>
                  <a:tcPr marL="64008" marR="64008" marT="27432" marB="27432" anchor="t">
                    <a:solidFill>
                      <a:srgbClr val="FFFDF8"/>
                    </a:solidFill>
                  </a:tcPr>
                </a:tc>
              </a:tr>
              <a:tr h="458343">
                <a:tc>
                  <a:txBody>
                    <a:bodyPr wrap="square"/>
                    <a:lstStyle/>
                    <a:p>
                      <a:r>
                        <a:rPr sz="1200" b="1">
                          <a:solidFill>
                            <a:srgbClr val="2A2A2A"/>
                          </a:solidFill>
                          <a:latin typeface="Calibri"/>
                        </a:rPr>
                        <a:t>Esc</a:t>
                      </a:r>
                    </a:p>
                  </a:txBody>
                  <a:tcPr marL="64008" marR="64008" marT="27432" marB="27432" anchor="t">
                    <a:solidFill>
                      <a:srgbClr val="FFF7E9"/>
                    </a:solidFill>
                  </a:tcPr>
                </a:tc>
                <a:tc>
                  <a:txBody>
                    <a:bodyPr wrap="square"/>
                    <a:lstStyle/>
                    <a:p>
                      <a:r>
                        <a:rPr sz="1200" b="0">
                          <a:solidFill>
                            <a:srgbClr val="2A2A2A"/>
                          </a:solidFill>
                          <a:latin typeface="Calibri"/>
                        </a:rPr>
                        <a:t>Huỷ tìm kiếm / lập chỉ mục</a:t>
                      </a:r>
                    </a:p>
                    <a:p>
                      <a:r>
                        <a:rPr sz="1100" i="1">
                          <a:solidFill>
                            <a:srgbClr val="6E6256"/>
                          </a:solidFill>
                          <a:latin typeface="Calibri"/>
                        </a:rPr>
                        <a:t>Cancel search / indexing</a:t>
                      </a:r>
                    </a:p>
                  </a:txBody>
                  <a:tcPr marL="64008" marR="64008" marT="27432" marB="27432" anchor="t">
                    <a:solidFill>
                      <a:srgbClr val="FFF7E9"/>
                    </a:solidFill>
                  </a:tcPr>
                </a:tc>
              </a:tr>
              <a:tr h="458343">
                <a:tc>
                  <a:txBody>
                    <a:bodyPr wrap="square"/>
                    <a:lstStyle/>
                    <a:p>
                      <a:r>
                        <a:rPr sz="1200" b="1">
                          <a:solidFill>
                            <a:srgbClr val="2A2A2A"/>
                          </a:solidFill>
                          <a:latin typeface="Calibri"/>
                        </a:rPr>
                        <a:t>Ctrl+L</a:t>
                      </a:r>
                    </a:p>
                  </a:txBody>
                  <a:tcPr marL="64008" marR="64008" marT="27432" marB="27432" anchor="t">
                    <a:solidFill>
                      <a:srgbClr val="FFFDF8"/>
                    </a:solidFill>
                  </a:tcPr>
                </a:tc>
                <a:tc>
                  <a:txBody>
                    <a:bodyPr wrap="square"/>
                    <a:lstStyle/>
                    <a:p>
                      <a:r>
                        <a:rPr sz="1200" b="0">
                          <a:solidFill>
                            <a:srgbClr val="2A2A2A"/>
                          </a:solidFill>
                          <a:latin typeface="Calibri"/>
                        </a:rPr>
                        <a:t>Xoá kết quả</a:t>
                      </a:r>
                    </a:p>
                    <a:p>
                      <a:r>
                        <a:rPr sz="1100" i="1">
                          <a:solidFill>
                            <a:srgbClr val="6E6256"/>
                          </a:solidFill>
                          <a:latin typeface="Calibri"/>
                        </a:rPr>
                        <a:t>Clear results</a:t>
                      </a:r>
                    </a:p>
                  </a:txBody>
                  <a:tcPr marL="64008" marR="64008" marT="27432" marB="27432" anchor="t">
                    <a:solidFill>
                      <a:srgbClr val="FFFDF8"/>
                    </a:solidFill>
                  </a:tcPr>
                </a:tc>
              </a:tr>
              <a:tr h="458343">
                <a:tc>
                  <a:txBody>
                    <a:bodyPr wrap="square"/>
                    <a:lstStyle/>
                    <a:p>
                      <a:r>
                        <a:rPr sz="1200" b="1">
                          <a:solidFill>
                            <a:srgbClr val="2A2A2A"/>
                          </a:solidFill>
                          <a:latin typeface="Calibri"/>
                        </a:rPr>
                        <a:t>Ctrl+E</a:t>
                      </a:r>
                    </a:p>
                  </a:txBody>
                  <a:tcPr marL="64008" marR="64008" marT="27432" marB="27432" anchor="t">
                    <a:solidFill>
                      <a:srgbClr val="FFF7E9"/>
                    </a:solidFill>
                  </a:tcPr>
                </a:tc>
                <a:tc>
                  <a:txBody>
                    <a:bodyPr wrap="square"/>
                    <a:lstStyle/>
                    <a:p>
                      <a:r>
                        <a:rPr sz="1200" b="0">
                          <a:solidFill>
                            <a:srgbClr val="2A2A2A"/>
                          </a:solidFill>
                          <a:latin typeface="Calibri"/>
                        </a:rPr>
                        <a:t>Mở tệp đã chọn</a:t>
                      </a:r>
                    </a:p>
                    <a:p>
                      <a:r>
                        <a:rPr sz="1100" i="1">
                          <a:solidFill>
                            <a:srgbClr val="6E6256"/>
                          </a:solidFill>
                          <a:latin typeface="Calibri"/>
                        </a:rPr>
                        <a:t>Open selected files</a:t>
                      </a:r>
                    </a:p>
                  </a:txBody>
                  <a:tcPr marL="64008" marR="64008" marT="27432" marB="27432" anchor="t">
                    <a:solidFill>
                      <a:srgbClr val="FFF7E9"/>
                    </a:solidFill>
                  </a:tcPr>
                </a:tc>
              </a:tr>
              <a:tr h="458343">
                <a:tc>
                  <a:txBody>
                    <a:bodyPr wrap="square"/>
                    <a:lstStyle/>
                    <a:p>
                      <a:r>
                        <a:rPr sz="1200" b="1">
                          <a:solidFill>
                            <a:srgbClr val="2A2A2A"/>
                          </a:solidFill>
                          <a:latin typeface="Calibri"/>
                        </a:rPr>
                        <a:t>Ctrl+Shift+E</a:t>
                      </a:r>
                    </a:p>
                  </a:txBody>
                  <a:tcPr marL="64008" marR="64008" marT="27432" marB="27432" anchor="t">
                    <a:solidFill>
                      <a:srgbClr val="FFFDF8"/>
                    </a:solidFill>
                  </a:tcPr>
                </a:tc>
                <a:tc>
                  <a:txBody>
                    <a:bodyPr wrap="square"/>
                    <a:lstStyle/>
                    <a:p>
                      <a:r>
                        <a:rPr sz="1200" b="0">
                          <a:solidFill>
                            <a:srgbClr val="2A2A2A"/>
                          </a:solidFill>
                          <a:latin typeface="Calibri"/>
                        </a:rPr>
                        <a:t>Hiện tệp trong thư mục</a:t>
                      </a:r>
                    </a:p>
                    <a:p>
                      <a:r>
                        <a:rPr sz="1100" i="1">
                          <a:solidFill>
                            <a:srgbClr val="6E6256"/>
                          </a:solidFill>
                          <a:latin typeface="Calibri"/>
                        </a:rPr>
                        <a:t>Reveal in folder</a:t>
                      </a:r>
                    </a:p>
                  </a:txBody>
                  <a:tcPr marL="64008" marR="64008" marT="27432" marB="27432" anchor="t">
                    <a:solidFill>
                      <a:srgbClr val="FFFDF8"/>
                    </a:solidFill>
                  </a:tcPr>
                </a:tc>
              </a:tr>
              <a:tr h="458343">
                <a:tc>
                  <a:txBody>
                    <a:bodyPr wrap="square"/>
                    <a:lstStyle/>
                    <a:p>
                      <a:r>
                        <a:rPr sz="1200" b="1">
                          <a:solidFill>
                            <a:srgbClr val="2A2A2A"/>
                          </a:solidFill>
                          <a:latin typeface="Calibri"/>
                        </a:rPr>
                        <a:t>Ctrl+C</a:t>
                      </a:r>
                    </a:p>
                  </a:txBody>
                  <a:tcPr marL="64008" marR="64008" marT="27432" marB="27432" anchor="t">
                    <a:solidFill>
                      <a:srgbClr val="FFF7E9"/>
                    </a:solidFill>
                  </a:tcPr>
                </a:tc>
                <a:tc>
                  <a:txBody>
                    <a:bodyPr wrap="square"/>
                    <a:lstStyle/>
                    <a:p>
                      <a:r>
                        <a:rPr sz="1200" b="0">
                          <a:solidFill>
                            <a:srgbClr val="2A2A2A"/>
                          </a:solidFill>
                          <a:latin typeface="Calibri"/>
                        </a:rPr>
                        <a:t>Chép đường dẫn (khi bảng kết quả đang chọn)</a:t>
                      </a:r>
                    </a:p>
                    <a:p>
                      <a:r>
                        <a:rPr sz="1100" i="1">
                          <a:solidFill>
                            <a:srgbClr val="6E6256"/>
                          </a:solidFill>
                          <a:latin typeface="Calibri"/>
                        </a:rPr>
                        <a:t>Copy paths (when the results table has focus)</a:t>
                      </a:r>
                    </a:p>
                  </a:txBody>
                  <a:tcPr marL="64008" marR="64008" marT="27432" marB="27432" anchor="t">
                    <a:solidFill>
                      <a:srgbClr val="FFF7E9"/>
                    </a:solidFill>
                  </a:tcPr>
                </a:tc>
              </a:tr>
              <a:tr h="458343">
                <a:tc>
                  <a:txBody>
                    <a:bodyPr wrap="square"/>
                    <a:lstStyle/>
                    <a:p>
                      <a:r>
                        <a:rPr sz="1200" b="1">
                          <a:solidFill>
                            <a:srgbClr val="2A2A2A"/>
                          </a:solidFill>
                          <a:latin typeface="Calibri"/>
                        </a:rPr>
                        <a:t>Ctrl+A</a:t>
                      </a:r>
                    </a:p>
                  </a:txBody>
                  <a:tcPr marL="64008" marR="64008" marT="27432" marB="27432" anchor="t">
                    <a:solidFill>
                      <a:srgbClr val="FFFDF8"/>
                    </a:solidFill>
                  </a:tcPr>
                </a:tc>
                <a:tc>
                  <a:txBody>
                    <a:bodyPr wrap="square"/>
                    <a:lstStyle/>
                    <a:p>
                      <a:r>
                        <a:rPr sz="1200" b="0">
                          <a:solidFill>
                            <a:srgbClr val="2A2A2A"/>
                          </a:solidFill>
                          <a:latin typeface="Calibri"/>
                        </a:rPr>
                        <a:t>Chọn tất cả kết quả (khi bảng đang chọn)</a:t>
                      </a:r>
                    </a:p>
                    <a:p>
                      <a:r>
                        <a:rPr sz="1100" i="1">
                          <a:solidFill>
                            <a:srgbClr val="6E6256"/>
                          </a:solidFill>
                          <a:latin typeface="Calibri"/>
                        </a:rPr>
                        <a:t>Select all results (when the table has focus)</a:t>
                      </a:r>
                    </a:p>
                  </a:txBody>
                  <a:tcPr marL="64008" marR="64008" marT="27432" marB="27432" anchor="t">
                    <a:solidFill>
                      <a:srgbClr val="FFFDF8"/>
                    </a:solidFill>
                  </a:tcPr>
                </a:tc>
              </a:tr>
              <a:tr h="458343">
                <a:tc>
                  <a:txBody>
                    <a:bodyPr wrap="square"/>
                    <a:lstStyle/>
                    <a:p>
                      <a:r>
                        <a:rPr sz="1200" b="1">
                          <a:solidFill>
                            <a:srgbClr val="2A2A2A"/>
                          </a:solidFill>
                          <a:latin typeface="Calibri"/>
                        </a:rPr>
                        <a:t>Ctrl+Q</a:t>
                      </a:r>
                    </a:p>
                  </a:txBody>
                  <a:tcPr marL="64008" marR="64008" marT="27432" marB="27432" anchor="t">
                    <a:solidFill>
                      <a:srgbClr val="FFF7E9"/>
                    </a:solidFill>
                  </a:tcPr>
                </a:tc>
                <a:tc>
                  <a:txBody>
                    <a:bodyPr wrap="square"/>
                    <a:lstStyle/>
                    <a:p>
                      <a:r>
                        <a:rPr sz="1200" b="0">
                          <a:solidFill>
                            <a:srgbClr val="2A2A2A"/>
                          </a:solidFill>
                          <a:latin typeface="Calibri"/>
                        </a:rPr>
                        <a:t>Thoát</a:t>
                      </a:r>
                    </a:p>
                    <a:p>
                      <a:r>
                        <a:rPr sz="1100" i="1">
                          <a:solidFill>
                            <a:srgbClr val="6E6256"/>
                          </a:solidFill>
                          <a:latin typeface="Calibri"/>
                        </a:rPr>
                        <a:t>Quit</a:t>
                      </a:r>
                    </a:p>
                  </a:txBody>
                  <a:tcPr marL="64008" marR="64008" marT="27432" marB="27432" anchor="t">
                    <a:solidFill>
                      <a:srgbClr val="FFF7E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9. Dữ liệu và quyền riêng tư</a:t>
            </a:r>
          </a:p>
          <a:p>
            <a:r>
              <a:rPr sz="1400" b="0" i="1">
                <a:solidFill>
                  <a:srgbClr val="F2C57B"/>
                </a:solidFill>
                <a:latin typeface="Calibri"/>
              </a:rPr>
              <a:t>Data and privacy</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18</a:t>
            </a:r>
          </a:p>
        </p:txBody>
      </p:sp>
      <p:graphicFrame>
        <p:nvGraphicFramePr>
          <p:cNvPr id="9" name="Table 8"/>
          <p:cNvGraphicFramePr>
            <a:graphicFrameLocks noGrp="1"/>
          </p:cNvGraphicFramePr>
          <p:nvPr/>
        </p:nvGraphicFramePr>
        <p:xfrm>
          <a:off x="548640" y="1188720"/>
          <a:ext cx="11094414" cy="1559814"/>
        </p:xfrm>
        <a:graphic>
          <a:graphicData uri="http://schemas.openxmlformats.org/drawingml/2006/table">
            <a:tbl>
              <a:tblPr firstRow="0" bandRow="0">
                <a:tableStyleId>{5C22544A-7EE6-4342-B048-85BDC9FD1C3A}</a:tableStyleId>
              </a:tblPr>
              <a:tblGrid>
                <a:gridCol w="3328324"/>
                <a:gridCol w="7766090"/>
              </a:tblGrid>
              <a:tr h="457200">
                <a:tc>
                  <a:txBody>
                    <a:bodyPr wrap="square"/>
                    <a:lstStyle/>
                    <a:p>
                      <a:r>
                        <a:rPr sz="1200" b="1">
                          <a:solidFill>
                            <a:srgbClr val="FFFFFF"/>
                          </a:solidFill>
                          <a:latin typeface="Calibri"/>
                        </a:rPr>
                        <a:t>Mục</a:t>
                      </a:r>
                    </a:p>
                    <a:p>
                      <a:r>
                        <a:rPr sz="1100" i="1">
                          <a:solidFill>
                            <a:srgbClr val="E9DCC6"/>
                          </a:solidFill>
                          <a:latin typeface="Calibri"/>
                        </a:rPr>
                        <a:t>Item</a:t>
                      </a:r>
                    </a:p>
                  </a:txBody>
                  <a:tcPr marL="64008" marR="64008" marT="27432" marB="27432" anchor="ctr">
                    <a:solidFill>
                      <a:srgbClr val="174349"/>
                    </a:solidFill>
                  </a:tcPr>
                </a:tc>
                <a:tc>
                  <a:txBody>
                    <a:bodyPr wrap="square"/>
                    <a:lstStyle/>
                    <a:p>
                      <a:r>
                        <a:rPr sz="1200" b="1">
                          <a:solidFill>
                            <a:srgbClr val="FFFFFF"/>
                          </a:solidFill>
                          <a:latin typeface="Calibri"/>
                        </a:rPr>
                        <a:t>Vị trí</a:t>
                      </a:r>
                    </a:p>
                    <a:p>
                      <a:r>
                        <a:rPr sz="1100" i="1">
                          <a:solidFill>
                            <a:srgbClr val="E9DCC6"/>
                          </a:solidFill>
                          <a:latin typeface="Calibri"/>
                        </a:rPr>
                        <a:t>Location</a:t>
                      </a:r>
                    </a:p>
                  </a:txBody>
                  <a:tcPr marL="64008" marR="64008" marT="27432" marB="27432" anchor="ctr">
                    <a:solidFill>
                      <a:srgbClr val="174349"/>
                    </a:solidFill>
                  </a:tcPr>
                </a:tc>
              </a:tr>
              <a:tr h="458343">
                <a:tc>
                  <a:txBody>
                    <a:bodyPr wrap="square"/>
                    <a:lstStyle/>
                    <a:p>
                      <a:r>
                        <a:rPr sz="1200" b="0">
                          <a:solidFill>
                            <a:srgbClr val="2A2A2A"/>
                          </a:solidFill>
                          <a:latin typeface="Calibri"/>
                        </a:rPr>
                        <a:t>Chỉ mục</a:t>
                      </a:r>
                    </a:p>
                    <a:p>
                      <a:r>
                        <a:rPr sz="1100" i="1">
                          <a:solidFill>
                            <a:srgbClr val="6E6256"/>
                          </a:solidFill>
                          <a:latin typeface="Calibri"/>
                        </a:rPr>
                        <a:t>Index</a:t>
                      </a:r>
                    </a:p>
                  </a:txBody>
                  <a:tcPr marL="64008" marR="64008" marT="27432" marB="27432" anchor="t">
                    <a:solidFill>
                      <a:srgbClr val="FFFDF8"/>
                    </a:solidFill>
                  </a:tcPr>
                </a:tc>
                <a:tc>
                  <a:txBody>
                    <a:bodyPr wrap="square"/>
                    <a:lstStyle/>
                    <a:p>
                      <a:r>
                        <a:rPr sz="1200" b="0">
                          <a:solidFill>
                            <a:srgbClr val="2A2A2A"/>
                          </a:solidFill>
                          <a:latin typeface="Calibri"/>
                        </a:rPr>
                        <a:t>%APPDATA%\PharmApp\UniversalTextSearch\index_v8.sqlite</a:t>
                      </a:r>
                    </a:p>
                  </a:txBody>
                  <a:tcPr marL="64008" marR="64008" marT="27432" marB="27432" anchor="t">
                    <a:solidFill>
                      <a:srgbClr val="FFFDF8"/>
                    </a:solidFill>
                  </a:tcPr>
                </a:tc>
              </a:tr>
              <a:tr h="644271">
                <a:tc>
                  <a:txBody>
                    <a:bodyPr wrap="square"/>
                    <a:lstStyle/>
                    <a:p>
                      <a:r>
                        <a:rPr sz="1200" b="0">
                          <a:solidFill>
                            <a:srgbClr val="2A2A2A"/>
                          </a:solidFill>
                          <a:latin typeface="Calibri"/>
                        </a:rPr>
                        <a:t>Cài đặt (giao diện, đường dẫn, kích thước cửa sổ)</a:t>
                      </a:r>
                    </a:p>
                    <a:p>
                      <a:r>
                        <a:rPr sz="1100" i="1">
                          <a:solidFill>
                            <a:srgbClr val="6E6256"/>
                          </a:solidFill>
                          <a:latin typeface="Calibri"/>
                        </a:rPr>
                        <a:t>Settings (theme, paths, window size)</a:t>
                      </a:r>
                    </a:p>
                  </a:txBody>
                  <a:tcPr marL="64008" marR="64008" marT="27432" marB="27432" anchor="t">
                    <a:solidFill>
                      <a:srgbClr val="FFF7E9"/>
                    </a:solidFill>
                  </a:tcPr>
                </a:tc>
                <a:tc>
                  <a:txBody>
                    <a:bodyPr wrap="square"/>
                    <a:lstStyle/>
                    <a:p>
                      <a:r>
                        <a:rPr sz="1200" b="0">
                          <a:solidFill>
                            <a:srgbClr val="2A2A2A"/>
                          </a:solidFill>
                          <a:latin typeface="Calibri"/>
                        </a:rPr>
                        <a:t>HKCU\Software\PharmApp\UniversalTextSearch</a:t>
                      </a:r>
                    </a:p>
                  </a:txBody>
                  <a:tcPr marL="64008" marR="64008" marT="27432" marB="27432" anchor="t">
                    <a:solidFill>
                      <a:srgbClr val="FFF7E9"/>
                    </a:solidFill>
                  </a:tcPr>
                </a:tc>
              </a:tr>
            </a:tbl>
          </a:graphicData>
        </a:graphic>
      </p:graphicFrame>
      <p:sp>
        <p:nvSpPr>
          <p:cNvPr id="10" name="TextBox 9"/>
          <p:cNvSpPr txBox="1"/>
          <p:nvPr/>
        </p:nvSpPr>
        <p:spPr>
          <a:xfrm>
            <a:off x="548640" y="2885694"/>
            <a:ext cx="5432907" cy="866775"/>
          </a:xfrm>
          <a:prstGeom prst="rect">
            <a:avLst/>
          </a:prstGeom>
          <a:noFill/>
        </p:spPr>
        <p:txBody>
          <a:bodyPr wrap="square" anchor="t" lIns="73152" rIns="73152" tIns="27432" bIns="27432">
            <a:spAutoFit/>
          </a:bodyPr>
          <a:lstStyle/>
          <a:p>
            <a:r>
              <a:rPr sz="1550" b="0" i="0">
                <a:solidFill>
                  <a:srgbClr val="2A2A2A"/>
                </a:solidFill>
                <a:latin typeface="Calibri"/>
              </a:rPr>
              <a:t>• Ứng dụng chỉ đọc tệp của bạn; không sửa, không xoá và không tải dữ liệu lên mạng. Liên kết ở chân trang chỉ mở trình duyệt khi bạn bấm.</a:t>
            </a:r>
          </a:p>
        </p:txBody>
      </p:sp>
      <p:sp>
        <p:nvSpPr>
          <p:cNvPr id="11" name="TextBox 10"/>
          <p:cNvSpPr txBox="1"/>
          <p:nvPr/>
        </p:nvSpPr>
        <p:spPr>
          <a:xfrm>
            <a:off x="6210147" y="2885694"/>
            <a:ext cx="5432907" cy="866775"/>
          </a:xfrm>
          <a:prstGeom prst="rect">
            <a:avLst/>
          </a:prstGeom>
          <a:noFill/>
        </p:spPr>
        <p:txBody>
          <a:bodyPr wrap="square" anchor="t" lIns="73152" rIns="73152" tIns="27432" bIns="27432">
            <a:spAutoFit/>
          </a:bodyPr>
          <a:lstStyle/>
          <a:p>
            <a:r>
              <a:rPr sz="1400" b="0" i="1">
                <a:solidFill>
                  <a:srgbClr val="6E6256"/>
                </a:solidFill>
                <a:latin typeface="Calibri"/>
              </a:rPr>
              <a:t>• The app only reads your files; it never edits or deletes them and uploads nothing. Footer links open your browser only when you click them.</a:t>
            </a:r>
          </a:p>
        </p:txBody>
      </p:sp>
      <p:sp>
        <p:nvSpPr>
          <p:cNvPr id="12" name="TextBox 11"/>
          <p:cNvSpPr txBox="1"/>
          <p:nvPr/>
        </p:nvSpPr>
        <p:spPr>
          <a:xfrm>
            <a:off x="548640" y="3807333"/>
            <a:ext cx="5432907" cy="866775"/>
          </a:xfrm>
          <a:prstGeom prst="rect">
            <a:avLst/>
          </a:prstGeom>
          <a:noFill/>
        </p:spPr>
        <p:txBody>
          <a:bodyPr wrap="square" anchor="t" lIns="73152" rIns="73152" tIns="27432" bIns="27432">
            <a:spAutoFit/>
          </a:bodyPr>
          <a:lstStyle/>
          <a:p>
            <a:r>
              <a:rPr sz="1550" b="0" i="0">
                <a:solidFill>
                  <a:srgbClr val="2A2A2A"/>
                </a:solidFill>
                <a:latin typeface="Calibri"/>
              </a:rPr>
              <a:t>• Chỉ mục chứa chữ trích từ tài liệu: hãy bảo vệ như chính tài liệu gốc. Xoá tệp index_v8.sqlite để xoá toàn bộ chỉ mục.</a:t>
            </a:r>
          </a:p>
        </p:txBody>
      </p:sp>
      <p:sp>
        <p:nvSpPr>
          <p:cNvPr id="13" name="TextBox 12"/>
          <p:cNvSpPr txBox="1"/>
          <p:nvPr/>
        </p:nvSpPr>
        <p:spPr>
          <a:xfrm>
            <a:off x="6210147" y="3807333"/>
            <a:ext cx="5432907" cy="866775"/>
          </a:xfrm>
          <a:prstGeom prst="rect">
            <a:avLst/>
          </a:prstGeom>
          <a:noFill/>
        </p:spPr>
        <p:txBody>
          <a:bodyPr wrap="square" anchor="t" lIns="73152" rIns="73152" tIns="27432" bIns="27432">
            <a:spAutoFit/>
          </a:bodyPr>
          <a:lstStyle/>
          <a:p>
            <a:r>
              <a:rPr sz="1400" b="0" i="1">
                <a:solidFill>
                  <a:srgbClr val="6E6256"/>
                </a:solidFill>
                <a:latin typeface="Calibri"/>
              </a:rPr>
              <a:t>• The index contains text taken from your documents: protect it like the originals. Delete index_v8.sqlite to remove the whole index.</a:t>
            </a:r>
          </a:p>
        </p:txBody>
      </p:sp>
      <p:sp>
        <p:nvSpPr>
          <p:cNvPr id="14" name="TextBox 13"/>
          <p:cNvSpPr txBox="1"/>
          <p:nvPr/>
        </p:nvSpPr>
        <p:spPr>
          <a:xfrm>
            <a:off x="548640" y="4728972"/>
            <a:ext cx="5432907" cy="626618"/>
          </a:xfrm>
          <a:prstGeom prst="rect">
            <a:avLst/>
          </a:prstGeom>
          <a:noFill/>
        </p:spPr>
        <p:txBody>
          <a:bodyPr wrap="square" anchor="t" lIns="73152" rIns="73152" tIns="27432" bIns="27432">
            <a:spAutoFit/>
          </a:bodyPr>
          <a:lstStyle/>
          <a:p>
            <a:r>
              <a:rPr sz="1550" b="0" i="0">
                <a:solidFill>
                  <a:srgbClr val="2A2A2A"/>
                </a:solidFill>
                <a:latin typeface="Calibri"/>
              </a:rPr>
              <a:t>• Chỉ mục của phiên bản 7 không dùng lại được: hãy bấm Update Index một lần sau khi chuyển sang v8.</a:t>
            </a:r>
          </a:p>
        </p:txBody>
      </p:sp>
      <p:sp>
        <p:nvSpPr>
          <p:cNvPr id="15" name="TextBox 14"/>
          <p:cNvSpPr txBox="1"/>
          <p:nvPr/>
        </p:nvSpPr>
        <p:spPr>
          <a:xfrm>
            <a:off x="6210147" y="4728972"/>
            <a:ext cx="5432907" cy="626618"/>
          </a:xfrm>
          <a:prstGeom prst="rect">
            <a:avLst/>
          </a:prstGeom>
          <a:noFill/>
        </p:spPr>
        <p:txBody>
          <a:bodyPr wrap="square" anchor="t" lIns="73152" rIns="73152" tIns="27432" bIns="27432">
            <a:spAutoFit/>
          </a:bodyPr>
          <a:lstStyle/>
          <a:p>
            <a:r>
              <a:rPr sz="1400" b="0" i="1">
                <a:solidFill>
                  <a:srgbClr val="6E6256"/>
                </a:solidFill>
                <a:latin typeface="Calibri"/>
              </a:rPr>
              <a:t>• The version 7 index is not reused: click Update Index once after moving to v8.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10. Xử lý sự cố</a:t>
            </a:r>
          </a:p>
          <a:p>
            <a:r>
              <a:rPr sz="1400" b="0" i="1">
                <a:solidFill>
                  <a:srgbClr val="F2C57B"/>
                </a:solidFill>
                <a:latin typeface="Calibri"/>
              </a:rPr>
              <a:t>Troubleshooting</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19</a:t>
            </a:r>
          </a:p>
        </p:txBody>
      </p:sp>
      <p:graphicFrame>
        <p:nvGraphicFramePr>
          <p:cNvPr id="9" name="Table 8"/>
          <p:cNvGraphicFramePr>
            <a:graphicFrameLocks noGrp="1"/>
          </p:cNvGraphicFramePr>
          <p:nvPr/>
        </p:nvGraphicFramePr>
        <p:xfrm>
          <a:off x="548640" y="1188720"/>
          <a:ext cx="11094414" cy="4711446"/>
        </p:xfrm>
        <a:graphic>
          <a:graphicData uri="http://schemas.openxmlformats.org/drawingml/2006/table">
            <a:tbl>
              <a:tblPr firstRow="0" bandRow="0">
                <a:tableStyleId>{5C22544A-7EE6-4342-B048-85BDC9FD1C3A}</a:tableStyleId>
              </a:tblPr>
              <a:tblGrid>
                <a:gridCol w="3328324"/>
                <a:gridCol w="7766090"/>
              </a:tblGrid>
              <a:tr h="457200">
                <a:tc>
                  <a:txBody>
                    <a:bodyPr wrap="square"/>
                    <a:lstStyle/>
                    <a:p>
                      <a:r>
                        <a:rPr sz="1200" b="1">
                          <a:solidFill>
                            <a:srgbClr val="FFFFFF"/>
                          </a:solidFill>
                          <a:latin typeface="Calibri"/>
                        </a:rPr>
                        <a:t>Hiện tượng</a:t>
                      </a:r>
                    </a:p>
                    <a:p>
                      <a:r>
                        <a:rPr sz="1100" i="1">
                          <a:solidFill>
                            <a:srgbClr val="E9DCC6"/>
                          </a:solidFill>
                          <a:latin typeface="Calibri"/>
                        </a:rPr>
                        <a:t>Symptom</a:t>
                      </a:r>
                    </a:p>
                  </a:txBody>
                  <a:tcPr marL="64008" marR="64008" marT="27432" marB="27432" anchor="ctr">
                    <a:solidFill>
                      <a:srgbClr val="174349"/>
                    </a:solidFill>
                  </a:tcPr>
                </a:tc>
                <a:tc>
                  <a:txBody>
                    <a:bodyPr wrap="square"/>
                    <a:lstStyle/>
                    <a:p>
                      <a:r>
                        <a:rPr sz="1200" b="1">
                          <a:solidFill>
                            <a:srgbClr val="FFFFFF"/>
                          </a:solidFill>
                          <a:latin typeface="Calibri"/>
                        </a:rPr>
                        <a:t>Cách xử lý</a:t>
                      </a:r>
                    </a:p>
                    <a:p>
                      <a:r>
                        <a:rPr sz="1100" i="1">
                          <a:solidFill>
                            <a:srgbClr val="E9DCC6"/>
                          </a:solidFill>
                          <a:latin typeface="Calibri"/>
                        </a:rPr>
                        <a:t>What to do</a:t>
                      </a:r>
                    </a:p>
                  </a:txBody>
                  <a:tcPr marL="64008" marR="64008" marT="27432" marB="27432" anchor="ctr">
                    <a:solidFill>
                      <a:srgbClr val="174349"/>
                    </a:solidFill>
                  </a:tcPr>
                </a:tc>
              </a:tr>
              <a:tr h="806958">
                <a:tc>
                  <a:txBody>
                    <a:bodyPr wrap="square"/>
                    <a:lstStyle/>
                    <a:p>
                      <a:r>
                        <a:rPr sz="1200" b="0">
                          <a:solidFill>
                            <a:srgbClr val="2A2A2A"/>
                          </a:solidFill>
                          <a:latin typeface="Calibri"/>
                        </a:rPr>
                        <a:t>Không có kết quả</a:t>
                      </a:r>
                    </a:p>
                    <a:p>
                      <a:r>
                        <a:rPr sz="1100" i="1">
                          <a:solidFill>
                            <a:srgbClr val="6E6256"/>
                          </a:solidFill>
                          <a:latin typeface="Calibri"/>
                        </a:rPr>
                        <a:t>No results</a:t>
                      </a:r>
                    </a:p>
                  </a:txBody>
                  <a:tcPr marL="64008" marR="64008" marT="27432" marB="27432" anchor="t">
                    <a:solidFill>
                      <a:srgbClr val="FFFDF8"/>
                    </a:solidFill>
                  </a:tcPr>
                </a:tc>
                <a:tc>
                  <a:txBody>
                    <a:bodyPr wrap="square"/>
                    <a:lstStyle/>
                    <a:p>
                      <a:r>
                        <a:rPr sz="1200" b="0">
                          <a:solidFill>
                            <a:srgbClr val="2A2A2A"/>
                          </a:solidFill>
                          <a:latin typeface="Calibri"/>
                        </a:rPr>
                        <a:t>Kiểm tra đã bấm Update Index xong; đường dẫn ở ô (7) đúng; loại tệp được tick; khoảng ngày bao phủ tệp; thử ít từ hơn.</a:t>
                      </a:r>
                    </a:p>
                    <a:p>
                      <a:r>
                        <a:rPr sz="1100" i="1">
                          <a:solidFill>
                            <a:srgbClr val="6E6256"/>
                          </a:solidFill>
                          <a:latin typeface="Calibri"/>
                        </a:rPr>
                        <a:t>Check Update Index finished; the path in box (7) is right; the file types are ticked; the date range covers the files; try fewer words.</a:t>
                      </a:r>
                    </a:p>
                  </a:txBody>
                  <a:tcPr marL="64008" marR="64008" marT="27432" marB="27432" anchor="t">
                    <a:solidFill>
                      <a:srgbClr val="FFFDF8"/>
                    </a:solidFill>
                  </a:tcPr>
                </a:tc>
              </a:tr>
              <a:tr h="458343">
                <a:tc>
                  <a:txBody>
                    <a:bodyPr wrap="square"/>
                    <a:lstStyle/>
                    <a:p>
                      <a:r>
                        <a:rPr sz="1200" b="0">
                          <a:solidFill>
                            <a:srgbClr val="2A2A2A"/>
                          </a:solidFill>
                          <a:latin typeface="Calibri"/>
                        </a:rPr>
                        <a:t>Tệp mới không xuất hiện</a:t>
                      </a:r>
                    </a:p>
                    <a:p>
                      <a:r>
                        <a:rPr sz="1100" i="1">
                          <a:solidFill>
                            <a:srgbClr val="6E6256"/>
                          </a:solidFill>
                          <a:latin typeface="Calibri"/>
                        </a:rPr>
                        <a:t>A new file does not appear</a:t>
                      </a:r>
                    </a:p>
                  </a:txBody>
                  <a:tcPr marL="64008" marR="64008" marT="27432" marB="27432" anchor="t">
                    <a:solidFill>
                      <a:srgbClr val="FFF7E9"/>
                    </a:solidFill>
                  </a:tcPr>
                </a:tc>
                <a:tc>
                  <a:txBody>
                    <a:bodyPr wrap="square"/>
                    <a:lstStyle/>
                    <a:p>
                      <a:r>
                        <a:rPr sz="1200" b="0">
                          <a:solidFill>
                            <a:srgbClr val="2A2A2A"/>
                          </a:solidFill>
                          <a:latin typeface="Calibri"/>
                        </a:rPr>
                        <a:t>Bấm Update Index (Ctrl+U). Ổ mạng thường không báo thay đổi cho chức năng tự theo dõi.</a:t>
                      </a:r>
                    </a:p>
                    <a:p>
                      <a:r>
                        <a:rPr sz="1100" i="1">
                          <a:solidFill>
                            <a:srgbClr val="6E6256"/>
                          </a:solidFill>
                          <a:latin typeface="Calibri"/>
                        </a:rPr>
                        <a:t>Click Update Index (Ctrl+U). Network drives often do not report changes to the automatic watcher.</a:t>
                      </a:r>
                    </a:p>
                  </a:txBody>
                  <a:tcPr marL="64008" marR="64008" marT="27432" marB="27432" anchor="t">
                    <a:solidFill>
                      <a:srgbClr val="FFF7E9"/>
                    </a:solidFill>
                  </a:tcPr>
                </a:tc>
              </a:tr>
              <a:tr h="458343">
                <a:tc>
                  <a:txBody>
                    <a:bodyPr wrap="square"/>
                    <a:lstStyle/>
                    <a:p>
                      <a:r>
                        <a:rPr sz="1200" b="0">
                          <a:solidFill>
                            <a:srgbClr val="2A2A2A"/>
                          </a:solidFill>
                          <a:latin typeface="Calibri"/>
                        </a:rPr>
                        <a:t>Hộp thoại “Keyword missing” / “No paths”</a:t>
                      </a:r>
                    </a:p>
                    <a:p>
                      <a:r>
                        <a:rPr sz="1100" i="1">
                          <a:solidFill>
                            <a:srgbClr val="6E6256"/>
                          </a:solidFill>
                          <a:latin typeface="Calibri"/>
                        </a:rPr>
                        <a:t>“Keyword missing” / “No paths” dialog</a:t>
                      </a:r>
                    </a:p>
                  </a:txBody>
                  <a:tcPr marL="64008" marR="64008" marT="27432" marB="27432" anchor="t">
                    <a:solidFill>
                      <a:srgbClr val="FFFDF8"/>
                    </a:solidFill>
                  </a:tcPr>
                </a:tc>
                <a:tc>
                  <a:txBody>
                    <a:bodyPr wrap="square"/>
                    <a:lstStyle/>
                    <a:p>
                      <a:r>
                        <a:rPr sz="1200" b="0">
                          <a:solidFill>
                            <a:srgbClr val="2A2A2A"/>
                          </a:solidFill>
                          <a:latin typeface="Calibri"/>
                        </a:rPr>
                        <a:t>Nhập từ khoá và thêm ít nhất một thư mục hoặc tệp.</a:t>
                      </a:r>
                    </a:p>
                    <a:p>
                      <a:r>
                        <a:rPr sz="1100" i="1">
                          <a:solidFill>
                            <a:srgbClr val="6E6256"/>
                          </a:solidFill>
                          <a:latin typeface="Calibri"/>
                        </a:rPr>
                        <a:t>Enter a keyword and add at least one folder or file.</a:t>
                      </a:r>
                    </a:p>
                  </a:txBody>
                  <a:tcPr marL="64008" marR="64008" marT="27432" marB="27432" anchor="t">
                    <a:solidFill>
                      <a:srgbClr val="FFFDF8"/>
                    </a:solidFill>
                  </a:tcPr>
                </a:tc>
              </a:tr>
              <a:tr h="806958">
                <a:tc>
                  <a:txBody>
                    <a:bodyPr wrap="square"/>
                    <a:lstStyle/>
                    <a:p>
                      <a:r>
                        <a:rPr sz="1200" b="0">
                          <a:solidFill>
                            <a:srgbClr val="2A2A2A"/>
                          </a:solidFill>
                          <a:latin typeface="Calibri"/>
                        </a:rPr>
                        <a:t>Hộp thoại “FTS not available”</a:t>
                      </a:r>
                    </a:p>
                    <a:p>
                      <a:r>
                        <a:rPr sz="1100" i="1">
                          <a:solidFill>
                            <a:srgbClr val="6E6256"/>
                          </a:solidFill>
                          <a:latin typeface="Calibri"/>
                        </a:rPr>
                        <a:t>“FTS not available” dialog</a:t>
                      </a:r>
                    </a:p>
                  </a:txBody>
                  <a:tcPr marL="64008" marR="64008" marT="27432" marB="27432" anchor="t">
                    <a:solidFill>
                      <a:srgbClr val="FFF7E9"/>
                    </a:solidFill>
                  </a:tcPr>
                </a:tc>
                <a:tc>
                  <a:txBody>
                    <a:bodyPr wrap="square"/>
                    <a:lstStyle/>
                    <a:p>
                      <a:r>
                        <a:rPr sz="1200" b="0">
                          <a:solidFill>
                            <a:srgbClr val="2A2A2A"/>
                          </a:solidFill>
                          <a:latin typeface="Calibri"/>
                        </a:rPr>
                        <a:t>Từ khoá có ký tự cú pháp. Đặt trong ngoặc kép "…". Ứng dụng tự chuyển sang quét trực tiếp và bỏ tick Use Index; tick lại khi cần.</a:t>
                      </a:r>
                    </a:p>
                    <a:p>
                      <a:r>
                        <a:rPr sz="1100" i="1">
                          <a:solidFill>
                            <a:srgbClr val="6E6256"/>
                          </a:solidFill>
                          <a:latin typeface="Calibri"/>
                        </a:rPr>
                        <a:t>The keyword contains syntax characters. Put it in quotes "…". The app falls back to live scan and unticks Use Index; tick it again when needed.</a:t>
                      </a:r>
                    </a:p>
                  </a:txBody>
                  <a:tcPr marL="64008" marR="64008" marT="27432" marB="27432" anchor="t">
                    <a:solidFill>
                      <a:srgbClr val="FFF7E9"/>
                    </a:solidFill>
                  </a:tcPr>
                </a:tc>
              </a:tr>
              <a:tr h="458343">
                <a:tc>
                  <a:txBody>
                    <a:bodyPr wrap="square"/>
                    <a:lstStyle/>
                    <a:p>
                      <a:r>
                        <a:rPr sz="1200" b="0">
                          <a:solidFill>
                            <a:srgbClr val="2A2A2A"/>
                          </a:solidFill>
                          <a:latin typeface="Calibri"/>
                        </a:rPr>
                        <a:t>PDF không tìm thấy</a:t>
                      </a:r>
                    </a:p>
                    <a:p>
                      <a:r>
                        <a:rPr sz="1100" i="1">
                          <a:solidFill>
                            <a:srgbClr val="6E6256"/>
                          </a:solidFill>
                          <a:latin typeface="Calibri"/>
                        </a:rPr>
                        <a:t>PDF not found</a:t>
                      </a:r>
                    </a:p>
                  </a:txBody>
                  <a:tcPr marL="64008" marR="64008" marT="27432" marB="27432" anchor="t">
                    <a:solidFill>
                      <a:srgbClr val="FFFDF8"/>
                    </a:solidFill>
                  </a:tcPr>
                </a:tc>
                <a:tc>
                  <a:txBody>
                    <a:bodyPr wrap="square"/>
                    <a:lstStyle/>
                    <a:p>
                      <a:r>
                        <a:rPr sz="1200" b="0">
                          <a:solidFill>
                            <a:srgbClr val="2A2A2A"/>
                          </a:solidFill>
                          <a:latin typeface="Calibri"/>
                        </a:rPr>
                        <a:t>Có thể là PDF ảnh quét (không có chữ). Cần OCR bên ngoài.</a:t>
                      </a:r>
                    </a:p>
                    <a:p>
                      <a:r>
                        <a:rPr sz="1100" i="1">
                          <a:solidFill>
                            <a:srgbClr val="6E6256"/>
                          </a:solidFill>
                          <a:latin typeface="Calibri"/>
                        </a:rPr>
                        <a:t>It may be a scanned-image PDF (no text). External OCR is needed.</a:t>
                      </a:r>
                    </a:p>
                  </a:txBody>
                  <a:tcPr marL="64008" marR="64008" marT="27432" marB="27432" anchor="t">
                    <a:solidFill>
                      <a:srgbClr val="FFFDF8"/>
                    </a:solidFill>
                  </a:tcPr>
                </a:tc>
              </a:tr>
              <a:tr h="458343">
                <a:tc>
                  <a:txBody>
                    <a:bodyPr wrap="square"/>
                    <a:lstStyle/>
                    <a:p>
                      <a:r>
                        <a:rPr sz="1200" b="0">
                          <a:solidFill>
                            <a:srgbClr val="2A2A2A"/>
                          </a:solidFill>
                          <a:latin typeface="Calibri"/>
                        </a:rPr>
                        <a:t>Tệp .doc không tìm thấy</a:t>
                      </a:r>
                    </a:p>
                    <a:p>
                      <a:r>
                        <a:rPr sz="1100" i="1">
                          <a:solidFill>
                            <a:srgbClr val="6E6256"/>
                          </a:solidFill>
                          <a:latin typeface="Calibri"/>
                        </a:rPr>
                        <a:t>.doc file not found</a:t>
                      </a:r>
                    </a:p>
                  </a:txBody>
                  <a:tcPr marL="64008" marR="64008" marT="27432" marB="27432" anchor="t">
                    <a:solidFill>
                      <a:srgbClr val="FFF7E9"/>
                    </a:solidFill>
                  </a:tcPr>
                </a:tc>
                <a:tc>
                  <a:txBody>
                    <a:bodyPr wrap="square"/>
                    <a:lstStyle/>
                    <a:p>
                      <a:r>
                        <a:rPr sz="1200" b="0">
                          <a:solidFill>
                            <a:srgbClr val="2A2A2A"/>
                          </a:solidFill>
                          <a:latin typeface="Calibri"/>
                        </a:rPr>
                        <a:t>Lưu lại thành .docx rồi bấm Update Index.</a:t>
                      </a:r>
                    </a:p>
                    <a:p>
                      <a:r>
                        <a:rPr sz="1100" i="1">
                          <a:solidFill>
                            <a:srgbClr val="6E6256"/>
                          </a:solidFill>
                          <a:latin typeface="Calibri"/>
                        </a:rPr>
                        <a:t>Save it as .docx, then click Update Index.</a:t>
                      </a:r>
                    </a:p>
                  </a:txBody>
                  <a:tcPr marL="64008" marR="64008" marT="27432" marB="27432" anchor="t">
                    <a:solidFill>
                      <a:srgbClr val="FFF7E9"/>
                    </a:solidFill>
                  </a:tcPr>
                </a:tc>
              </a:tr>
              <a:tr h="806958">
                <a:tc>
                  <a:txBody>
                    <a:bodyPr wrap="square"/>
                    <a:lstStyle/>
                    <a:p>
                      <a:r>
                        <a:rPr sz="1200" b="0">
                          <a:solidFill>
                            <a:srgbClr val="2A2A2A"/>
                          </a:solidFill>
                          <a:latin typeface="Calibri"/>
                        </a:rPr>
                        <a:t>Lập chỉ mục chậm</a:t>
                      </a:r>
                    </a:p>
                    <a:p>
                      <a:r>
                        <a:rPr sz="1100" i="1">
                          <a:solidFill>
                            <a:srgbClr val="6E6256"/>
                          </a:solidFill>
                          <a:latin typeface="Calibri"/>
                        </a:rPr>
                        <a:t>Indexing is slow</a:t>
                      </a:r>
                    </a:p>
                  </a:txBody>
                  <a:tcPr marL="64008" marR="64008" marT="27432" marB="27432" anchor="t">
                    <a:solidFill>
                      <a:srgbClr val="FFFDF8"/>
                    </a:solidFill>
                  </a:tcPr>
                </a:tc>
                <a:tc>
                  <a:txBody>
                    <a:bodyPr wrap="square"/>
                    <a:lstStyle/>
                    <a:p>
                      <a:r>
                        <a:rPr sz="1200" b="0">
                          <a:solidFill>
                            <a:srgbClr val="2A2A2A"/>
                          </a:solidFill>
                          <a:latin typeface="Calibri"/>
                        </a:rPr>
                        <a:t>Lần đầu với thư mục lớn là bình thường. Chọn ít loại tệp hơn, tránh ổ mạng chậm, hoặc nhấn Esc rồi chạy lại sau (tiến độ được giữ).</a:t>
                      </a:r>
                    </a:p>
                    <a:p>
                      <a:r>
                        <a:rPr sz="1100" i="1">
                          <a:solidFill>
                            <a:srgbClr val="6E6256"/>
                          </a:solidFill>
                          <a:latin typeface="Calibri"/>
                        </a:rPr>
                        <a:t>Normal the first time with large folders. Choose fewer file types, avoid slow network drives, or press Esc and resume later (progress is kept).</a:t>
                      </a:r>
                    </a:p>
                  </a:txBody>
                  <a:tcPr marL="64008" marR="64008" marT="27432" marB="27432" anchor="t">
                    <a:solidFill>
                      <a:srgbClr val="FFFD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10. Xử lý sự cố  (tiếp / cont.)</a:t>
            </a:r>
          </a:p>
          <a:p>
            <a:r>
              <a:rPr sz="1400" b="0" i="1">
                <a:solidFill>
                  <a:srgbClr val="F2C57B"/>
                </a:solidFill>
                <a:latin typeface="Calibri"/>
              </a:rPr>
              <a:t>Troubleshooting</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20</a:t>
            </a:r>
          </a:p>
        </p:txBody>
      </p:sp>
      <p:graphicFrame>
        <p:nvGraphicFramePr>
          <p:cNvPr id="9" name="Table 8"/>
          <p:cNvGraphicFramePr>
            <a:graphicFrameLocks noGrp="1"/>
          </p:cNvGraphicFramePr>
          <p:nvPr/>
        </p:nvGraphicFramePr>
        <p:xfrm>
          <a:off x="548640" y="1188720"/>
          <a:ext cx="11094414" cy="2639187"/>
        </p:xfrm>
        <a:graphic>
          <a:graphicData uri="http://schemas.openxmlformats.org/drawingml/2006/table">
            <a:tbl>
              <a:tblPr firstRow="0" bandRow="0">
                <a:tableStyleId>{5C22544A-7EE6-4342-B048-85BDC9FD1C3A}</a:tableStyleId>
              </a:tblPr>
              <a:tblGrid>
                <a:gridCol w="3328324"/>
                <a:gridCol w="7766090"/>
              </a:tblGrid>
              <a:tr h="457200">
                <a:tc>
                  <a:txBody>
                    <a:bodyPr wrap="square"/>
                    <a:lstStyle/>
                    <a:p>
                      <a:r>
                        <a:rPr sz="1200" b="1">
                          <a:solidFill>
                            <a:srgbClr val="FFFFFF"/>
                          </a:solidFill>
                          <a:latin typeface="Calibri"/>
                        </a:rPr>
                        <a:t>Hiện tượng</a:t>
                      </a:r>
                    </a:p>
                    <a:p>
                      <a:r>
                        <a:rPr sz="1100" i="1">
                          <a:solidFill>
                            <a:srgbClr val="E9DCC6"/>
                          </a:solidFill>
                          <a:latin typeface="Calibri"/>
                        </a:rPr>
                        <a:t>Symptom</a:t>
                      </a:r>
                    </a:p>
                  </a:txBody>
                  <a:tcPr marL="64008" marR="64008" marT="27432" marB="27432" anchor="ctr">
                    <a:solidFill>
                      <a:srgbClr val="174349"/>
                    </a:solidFill>
                  </a:tcPr>
                </a:tc>
                <a:tc>
                  <a:txBody>
                    <a:bodyPr wrap="square"/>
                    <a:lstStyle/>
                    <a:p>
                      <a:r>
                        <a:rPr sz="1200" b="1">
                          <a:solidFill>
                            <a:srgbClr val="FFFFFF"/>
                          </a:solidFill>
                          <a:latin typeface="Calibri"/>
                        </a:rPr>
                        <a:t>Cách xử lý</a:t>
                      </a:r>
                    </a:p>
                    <a:p>
                      <a:r>
                        <a:rPr sz="1100" i="1">
                          <a:solidFill>
                            <a:srgbClr val="E9DCC6"/>
                          </a:solidFill>
                          <a:latin typeface="Calibri"/>
                        </a:rPr>
                        <a:t>What to do</a:t>
                      </a:r>
                    </a:p>
                  </a:txBody>
                  <a:tcPr marL="64008" marR="64008" marT="27432" marB="27432" anchor="ctr">
                    <a:solidFill>
                      <a:srgbClr val="174349"/>
                    </a:solidFill>
                  </a:tcPr>
                </a:tc>
              </a:tr>
              <a:tr h="458343">
                <a:tc>
                  <a:txBody>
                    <a:bodyPr wrap="square"/>
                    <a:lstStyle/>
                    <a:p>
                      <a:r>
                        <a:rPr sz="1200" b="0">
                          <a:solidFill>
                            <a:srgbClr val="2A2A2A"/>
                          </a:solidFill>
                          <a:latin typeface="Calibri"/>
                        </a:rPr>
                        <a:t>“Open failed” / “Reveal failed”</a:t>
                      </a:r>
                    </a:p>
                  </a:txBody>
                  <a:tcPr marL="64008" marR="64008" marT="27432" marB="27432" anchor="t">
                    <a:solidFill>
                      <a:srgbClr val="FFFDF8"/>
                    </a:solidFill>
                  </a:tcPr>
                </a:tc>
                <a:tc>
                  <a:txBody>
                    <a:bodyPr wrap="square"/>
                    <a:lstStyle/>
                    <a:p>
                      <a:r>
                        <a:rPr sz="1200" b="0">
                          <a:solidFill>
                            <a:srgbClr val="2A2A2A"/>
                          </a:solidFill>
                          <a:latin typeface="Calibri"/>
                        </a:rPr>
                        <a:t>Tệp đã bị di chuyển/xoá hoặc chưa có chương trình mở loại tệp đó.</a:t>
                      </a:r>
                    </a:p>
                    <a:p>
                      <a:r>
                        <a:rPr sz="1100" i="1">
                          <a:solidFill>
                            <a:srgbClr val="6E6256"/>
                          </a:solidFill>
                          <a:latin typeface="Calibri"/>
                        </a:rPr>
                        <a:t>The file was moved/deleted or no program is associated with it.</a:t>
                      </a:r>
                    </a:p>
                  </a:txBody>
                  <a:tcPr marL="64008" marR="64008" marT="27432" marB="27432" anchor="t">
                    <a:solidFill>
                      <a:srgbClr val="FFFDF8"/>
                    </a:solidFill>
                  </a:tcPr>
                </a:tc>
              </a:tr>
              <a:tr h="458343">
                <a:tc>
                  <a:txBody>
                    <a:bodyPr wrap="square"/>
                    <a:lstStyle/>
                    <a:p>
                      <a:r>
                        <a:rPr sz="1200" b="0">
                          <a:solidFill>
                            <a:srgbClr val="2A2A2A"/>
                          </a:solidFill>
                          <a:latin typeface="Calibri"/>
                        </a:rPr>
                        <a:t>Ngày không đúng</a:t>
                      </a:r>
                    </a:p>
                    <a:p>
                      <a:r>
                        <a:rPr sz="1100" i="1">
                          <a:solidFill>
                            <a:srgbClr val="6E6256"/>
                          </a:solidFill>
                          <a:latin typeface="Calibri"/>
                        </a:rPr>
                        <a:t>Dates ignored</a:t>
                      </a:r>
                    </a:p>
                  </a:txBody>
                  <a:tcPr marL="64008" marR="64008" marT="27432" marB="27432" anchor="t">
                    <a:solidFill>
                      <a:srgbClr val="FFF7E9"/>
                    </a:solidFill>
                  </a:tcPr>
                </a:tc>
                <a:tc>
                  <a:txBody>
                    <a:bodyPr wrap="square"/>
                    <a:lstStyle/>
                    <a:p>
                      <a:r>
                        <a:rPr sz="1200" b="0">
                          <a:solidFill>
                            <a:srgbClr val="2A2A2A"/>
                          </a:solidFill>
                          <a:latin typeface="Calibri"/>
                        </a:rPr>
                        <a:t>Dùng đúng dạng YYYY-MM-DD. Nếu sai, hệ thống dùng 1998-01-01 và hôm nay.</a:t>
                      </a:r>
                    </a:p>
                    <a:p>
                      <a:r>
                        <a:rPr sz="1100" i="1">
                          <a:solidFill>
                            <a:srgbClr val="6E6256"/>
                          </a:solidFill>
                          <a:latin typeface="Calibri"/>
                        </a:rPr>
                        <a:t>Use the YYYY-MM-DD format. If invalid, 1998-01-01 and today are used.</a:t>
                      </a:r>
                    </a:p>
                  </a:txBody>
                  <a:tcPr marL="64008" marR="64008" marT="27432" marB="27432" anchor="t">
                    <a:solidFill>
                      <a:srgbClr val="FFF7E9"/>
                    </a:solidFill>
                  </a:tcPr>
                </a:tc>
              </a:tr>
              <a:tr h="458343">
                <a:tc>
                  <a:txBody>
                    <a:bodyPr wrap="square"/>
                    <a:lstStyle/>
                    <a:p>
                      <a:r>
                        <a:rPr sz="1200" b="0">
                          <a:solidFill>
                            <a:srgbClr val="2A2A2A"/>
                          </a:solidFill>
                          <a:latin typeface="Calibri"/>
                        </a:rPr>
                        <a:t>Chữ bị cắt trên màn hình nhỏ</a:t>
                      </a:r>
                    </a:p>
                    <a:p>
                      <a:r>
                        <a:rPr sz="1100" i="1">
                          <a:solidFill>
                            <a:srgbClr val="6E6256"/>
                          </a:solidFill>
                          <a:latin typeface="Calibri"/>
                        </a:rPr>
                        <a:t>Text is cut on a small screen</a:t>
                      </a:r>
                    </a:p>
                  </a:txBody>
                  <a:tcPr marL="64008" marR="64008" marT="27432" marB="27432" anchor="t">
                    <a:solidFill>
                      <a:srgbClr val="FFFDF8"/>
                    </a:solidFill>
                  </a:tcPr>
                </a:tc>
                <a:tc>
                  <a:txBody>
                    <a:bodyPr wrap="square"/>
                    <a:lstStyle/>
                    <a:p>
                      <a:r>
                        <a:rPr sz="1200" b="0">
                          <a:solidFill>
                            <a:srgbClr val="2A2A2A"/>
                          </a:solidFill>
                          <a:latin typeface="Calibri"/>
                        </a:rPr>
                        <a:t>Phóng to cửa sổ; các vùng tự xuống dòng khi hẹp.</a:t>
                      </a:r>
                    </a:p>
                    <a:p>
                      <a:r>
                        <a:rPr sz="1100" i="1">
                          <a:solidFill>
                            <a:srgbClr val="6E6256"/>
                          </a:solidFill>
                          <a:latin typeface="Calibri"/>
                        </a:rPr>
                        <a:t>Enlarge the window; areas wrap automatically when narrow.</a:t>
                      </a:r>
                    </a:p>
                  </a:txBody>
                  <a:tcPr marL="64008" marR="64008" marT="27432" marB="27432" anchor="t">
                    <a:solidFill>
                      <a:srgbClr val="FFFDF8"/>
                    </a:solidFill>
                  </a:tcPr>
                </a:tc>
              </a:tr>
              <a:tr h="806958">
                <a:tc>
                  <a:txBody>
                    <a:bodyPr wrap="square"/>
                    <a:lstStyle/>
                    <a:p>
                      <a:r>
                        <a:rPr sz="1200" b="0">
                          <a:solidFill>
                            <a:srgbClr val="2A2A2A"/>
                          </a:solidFill>
                          <a:latin typeface="Calibri"/>
                        </a:rPr>
                        <a:t>Ứng dụng không mở / bị chặn</a:t>
                      </a:r>
                    </a:p>
                    <a:p>
                      <a:r>
                        <a:rPr sz="1100" i="1">
                          <a:solidFill>
                            <a:srgbClr val="6E6256"/>
                          </a:solidFill>
                          <a:latin typeface="Calibri"/>
                        </a:rPr>
                        <a:t>App does not start / is blocked</a:t>
                      </a:r>
                    </a:p>
                  </a:txBody>
                  <a:tcPr marL="64008" marR="64008" marT="27432" marB="27432" anchor="t">
                    <a:solidFill>
                      <a:srgbClr val="FFF7E9"/>
                    </a:solidFill>
                  </a:tcPr>
                </a:tc>
                <a:tc>
                  <a:txBody>
                    <a:bodyPr wrap="square"/>
                    <a:lstStyle/>
                    <a:p>
                      <a:r>
                        <a:rPr sz="1200" b="0">
                          <a:solidFill>
                            <a:srgbClr val="2A2A2A"/>
                          </a:solidFill>
                          <a:latin typeface="Calibri"/>
                        </a:rPr>
                        <a:t>Chạy từ ổ cục bộ, nhờ quản trị viên cho phép tệp trong phần mềm diệt virus rồi liên hệ hỗ trợ nếu vẫn lỗi.</a:t>
                      </a:r>
                    </a:p>
                    <a:p>
                      <a:r>
                        <a:rPr sz="1100" i="1">
                          <a:solidFill>
                            <a:srgbClr val="6E6256"/>
                          </a:solidFill>
                          <a:latin typeface="Calibri"/>
                        </a:rPr>
                        <a:t>Run from a local drive, ask your administrator to allow the file in the antivirus, then contact support if it persists.</a:t>
                      </a:r>
                    </a:p>
                  </a:txBody>
                  <a:tcPr marL="64008" marR="64008" marT="27432" marB="27432" anchor="t">
                    <a:solidFill>
                      <a:srgbClr val="FFF7E9"/>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11. Hỗ trợ</a:t>
            </a:r>
          </a:p>
          <a:p>
            <a:r>
              <a:rPr sz="1400" b="0" i="1">
                <a:solidFill>
                  <a:srgbClr val="F2C57B"/>
                </a:solidFill>
                <a:latin typeface="Calibri"/>
              </a:rPr>
              <a:t>Support</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21</a:t>
            </a:r>
          </a:p>
        </p:txBody>
      </p:sp>
      <p:sp>
        <p:nvSpPr>
          <p:cNvPr id="9" name="TextBox 8"/>
          <p:cNvSpPr txBox="1"/>
          <p:nvPr/>
        </p:nvSpPr>
        <p:spPr>
          <a:xfrm>
            <a:off x="548640" y="1188720"/>
            <a:ext cx="11094415" cy="365760"/>
          </a:xfrm>
          <a:prstGeom prst="rect">
            <a:avLst/>
          </a:prstGeom>
          <a:noFill/>
        </p:spPr>
        <p:txBody>
          <a:bodyPr wrap="square" anchor="t" lIns="73152" rIns="73152" tIns="27432" bIns="27432">
            <a:spAutoFit/>
          </a:bodyPr>
          <a:lstStyle/>
          <a:p>
            <a:r>
              <a:rPr sz="1600" b="1" i="0">
                <a:solidFill>
                  <a:srgbClr val="174349"/>
                </a:solidFill>
                <a:latin typeface="Calibri"/>
              </a:rPr>
              <a:t>Liên hệ và ủng hộ dự án:</a:t>
            </a:r>
          </a:p>
        </p:txBody>
      </p:sp>
      <p:sp>
        <p:nvSpPr>
          <p:cNvPr id="10" name="TextBox 9"/>
          <p:cNvSpPr txBox="1"/>
          <p:nvPr/>
        </p:nvSpPr>
        <p:spPr>
          <a:xfrm>
            <a:off x="548640" y="1554480"/>
            <a:ext cx="11094415" cy="320040"/>
          </a:xfrm>
          <a:prstGeom prst="rect">
            <a:avLst/>
          </a:prstGeom>
          <a:noFill/>
        </p:spPr>
        <p:txBody>
          <a:bodyPr wrap="square" anchor="t" lIns="73152" rIns="73152" tIns="27432" bIns="27432">
            <a:spAutoFit/>
          </a:bodyPr>
          <a:lstStyle/>
          <a:p>
            <a:r>
              <a:rPr sz="1200" b="0" i="1">
                <a:solidFill>
                  <a:srgbClr val="6E6256"/>
                </a:solidFill>
                <a:latin typeface="Calibri"/>
              </a:rPr>
              <a:t>Contact and support the project:</a:t>
            </a:r>
          </a:p>
        </p:txBody>
      </p:sp>
      <p:sp>
        <p:nvSpPr>
          <p:cNvPr id="11" name="TextBox 10"/>
          <p:cNvSpPr txBox="1"/>
          <p:nvPr/>
        </p:nvSpPr>
        <p:spPr>
          <a:xfrm>
            <a:off x="822959" y="2103120"/>
            <a:ext cx="7315200" cy="365760"/>
          </a:xfrm>
          <a:prstGeom prst="rect">
            <a:avLst/>
          </a:prstGeom>
          <a:noFill/>
        </p:spPr>
        <p:txBody>
          <a:bodyPr wrap="none">
            <a:spAutoFit/>
          </a:bodyPr>
          <a:lstStyle/>
          <a:p>
            <a:r>
              <a:rPr sz="1800">
                <a:latin typeface="Calibri"/>
                <a:hlinkClick r:id="rId3"/>
              </a:rPr>
              <a:t>www.nghiencuuthuoc.com</a:t>
            </a:r>
          </a:p>
        </p:txBody>
      </p:sp>
      <p:sp>
        <p:nvSpPr>
          <p:cNvPr id="12" name="TextBox 11"/>
          <p:cNvSpPr txBox="1"/>
          <p:nvPr/>
        </p:nvSpPr>
        <p:spPr>
          <a:xfrm>
            <a:off x="822959" y="2560320"/>
            <a:ext cx="7315200" cy="365760"/>
          </a:xfrm>
          <a:prstGeom prst="rect">
            <a:avLst/>
          </a:prstGeom>
          <a:noFill/>
        </p:spPr>
        <p:txBody>
          <a:bodyPr wrap="none">
            <a:spAutoFit/>
          </a:bodyPr>
          <a:lstStyle/>
          <a:p>
            <a:r>
              <a:rPr sz="1800">
                <a:latin typeface="Calibri"/>
                <a:hlinkClick r:id="rId4"/>
              </a:rPr>
              <a:t>Zalo: +84888999311</a:t>
            </a:r>
          </a:p>
        </p:txBody>
      </p:sp>
      <p:sp>
        <p:nvSpPr>
          <p:cNvPr id="13" name="TextBox 12"/>
          <p:cNvSpPr txBox="1"/>
          <p:nvPr/>
        </p:nvSpPr>
        <p:spPr>
          <a:xfrm>
            <a:off x="822959" y="3017520"/>
            <a:ext cx="7315200" cy="365760"/>
          </a:xfrm>
          <a:prstGeom prst="rect">
            <a:avLst/>
          </a:prstGeom>
          <a:noFill/>
        </p:spPr>
        <p:txBody>
          <a:bodyPr wrap="none">
            <a:spAutoFit/>
          </a:bodyPr>
          <a:lstStyle/>
          <a:p>
            <a:r>
              <a:rPr sz="1800">
                <a:latin typeface="Calibri"/>
                <a:hlinkClick r:id="rId5"/>
              </a:rPr>
              <a:t>www.pharmapp.dev</a:t>
            </a:r>
          </a:p>
        </p:txBody>
      </p:sp>
      <p:sp>
        <p:nvSpPr>
          <p:cNvPr id="14" name="TextBox 13"/>
          <p:cNvSpPr txBox="1"/>
          <p:nvPr/>
        </p:nvSpPr>
        <p:spPr>
          <a:xfrm>
            <a:off x="822959" y="3474720"/>
            <a:ext cx="7315200" cy="365760"/>
          </a:xfrm>
          <a:prstGeom prst="rect">
            <a:avLst/>
          </a:prstGeom>
          <a:noFill/>
        </p:spPr>
        <p:txBody>
          <a:bodyPr wrap="none">
            <a:spAutoFit/>
          </a:bodyPr>
          <a:lstStyle/>
          <a:p>
            <a:r>
              <a:rPr sz="1800">
                <a:latin typeface="Calibri"/>
                <a:hlinkClick r:id="rId6"/>
              </a:rPr>
              <a:t>♥ Donate NCT</a:t>
            </a:r>
          </a:p>
        </p:txBody>
      </p:sp>
      <p:sp>
        <p:nvSpPr>
          <p:cNvPr id="15" name="TextBox 14"/>
          <p:cNvSpPr txBox="1"/>
          <p:nvPr/>
        </p:nvSpPr>
        <p:spPr>
          <a:xfrm>
            <a:off x="822959" y="3931920"/>
            <a:ext cx="7315200" cy="365760"/>
          </a:xfrm>
          <a:prstGeom prst="rect">
            <a:avLst/>
          </a:prstGeom>
          <a:noFill/>
        </p:spPr>
        <p:txBody>
          <a:bodyPr wrap="none">
            <a:spAutoFit/>
          </a:bodyPr>
          <a:lstStyle/>
          <a:p>
            <a:r>
              <a:rPr sz="1800">
                <a:latin typeface="Calibri"/>
                <a:hlinkClick r:id="rId7"/>
              </a:rPr>
              <a:t>♥ Donate to PharmApp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7E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74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5720"/>
          </a:xfrm>
          <a:prstGeom prst="rect">
            <a:avLst/>
          </a:prstGeom>
          <a:solidFill>
            <a:srgbClr val="E89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180015" cy="731520"/>
          </a:xfrm>
          <a:prstGeom prst="rect">
            <a:avLst/>
          </a:prstGeom>
          <a:noFill/>
        </p:spPr>
        <p:txBody>
          <a:bodyPr wrap="square" anchor="ctr" lIns="73152" rIns="73152" tIns="27432" bIns="27432">
            <a:spAutoFit/>
          </a:bodyPr>
          <a:lstStyle/>
          <a:p>
            <a:r>
              <a:rPr sz="2400" b="1" i="0">
                <a:solidFill>
                  <a:srgbClr val="FFFFFF"/>
                </a:solidFill>
                <a:latin typeface="Calibri"/>
              </a:rPr>
              <a:t>12. Lịch sử sửa đổi</a:t>
            </a:r>
          </a:p>
          <a:p>
            <a:r>
              <a:rPr sz="1400" b="0" i="1">
                <a:solidFill>
                  <a:srgbClr val="F2C57B"/>
                </a:solidFill>
                <a:latin typeface="Calibri"/>
              </a:rPr>
              <a:t>Revision history</a:t>
            </a:r>
          </a:p>
        </p:txBody>
      </p:sp>
      <p:pic>
        <p:nvPicPr>
          <p:cNvPr id="5" name="Picture 4" descr="logo_360.png"/>
          <p:cNvPicPr>
            <a:picLocks noChangeAspect="1"/>
          </p:cNvPicPr>
          <p:nvPr/>
        </p:nvPicPr>
        <p:blipFill>
          <a:blip r:embed="rId2"/>
          <a:stretch>
            <a:fillRect/>
          </a:stretch>
        </p:blipFill>
        <p:spPr>
          <a:xfrm>
            <a:off x="10865815" y="91440"/>
            <a:ext cx="731520" cy="731520"/>
          </a:xfrm>
          <a:prstGeom prst="rect">
            <a:avLst/>
          </a:prstGeom>
        </p:spPr>
      </p:pic>
      <p:sp>
        <p:nvSpPr>
          <p:cNvPr id="6" name="Rectangle 5"/>
          <p:cNvSpPr/>
          <p:nvPr/>
        </p:nvSpPr>
        <p:spPr>
          <a:xfrm>
            <a:off x="0" y="6400800"/>
            <a:ext cx="12191695" cy="457200"/>
          </a:xfrm>
          <a:prstGeom prst="rect">
            <a:avLst/>
          </a:prstGeom>
          <a:solidFill>
            <a:srgbClr val="F5E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37376"/>
            <a:ext cx="9265615" cy="384048"/>
          </a:xfrm>
          <a:prstGeom prst="rect">
            <a:avLst/>
          </a:prstGeom>
          <a:noFill/>
        </p:spPr>
        <p:txBody>
          <a:bodyPr wrap="square">
            <a:spAutoFit/>
          </a:bodyPr>
          <a:lstStyle/>
          <a:p>
            <a:r>
              <a:rPr sz="800">
                <a:solidFill>
                  <a:srgbClr val="6E6256"/>
                </a:solidFill>
                <a:latin typeface="Calibri"/>
              </a:rPr>
              <a:t>© 2009-2026 • Pharma R&amp;D Platforms • PharmApp • Discover • Design • Develop • Validate • Deliver   </a:t>
            </a:r>
            <a:r>
              <a:rPr sz="800">
                <a:solidFill>
                  <a:srgbClr val="174349"/>
                </a:solidFill>
                <a:latin typeface="Calibri"/>
                <a:hlinkClick r:id="rId3"/>
              </a:rPr>
              <a:t>www.nghiencuuthuoc.com  •  </a:t>
            </a:r>
            <a:r>
              <a:rPr sz="800">
                <a:solidFill>
                  <a:srgbClr val="174349"/>
                </a:solidFill>
                <a:latin typeface="Calibri"/>
                <a:hlinkClick r:id="rId4"/>
              </a:rPr>
              <a:t>Zalo: +84888999311  •  </a:t>
            </a:r>
            <a:r>
              <a:rPr sz="800">
                <a:solidFill>
                  <a:srgbClr val="174349"/>
                </a:solidFill>
                <a:latin typeface="Calibri"/>
                <a:hlinkClick r:id="rId5"/>
              </a:rPr>
              <a:t>www.pharmapp.dev</a:t>
            </a:r>
          </a:p>
        </p:txBody>
      </p:sp>
      <p:sp>
        <p:nvSpPr>
          <p:cNvPr id="8" name="TextBox 7"/>
          <p:cNvSpPr txBox="1"/>
          <p:nvPr/>
        </p:nvSpPr>
        <p:spPr>
          <a:xfrm>
            <a:off x="9814255" y="6455664"/>
            <a:ext cx="1828800" cy="365760"/>
          </a:xfrm>
          <a:prstGeom prst="rect">
            <a:avLst/>
          </a:prstGeom>
          <a:noFill/>
        </p:spPr>
        <p:txBody>
          <a:bodyPr wrap="square" anchor="t" lIns="73152" rIns="73152" tIns="27432" bIns="27432">
            <a:spAutoFit/>
          </a:bodyPr>
          <a:lstStyle/>
          <a:p>
            <a:pPr algn="r"/>
            <a:r>
              <a:rPr sz="800" b="0" i="0">
                <a:solidFill>
                  <a:srgbClr val="6E6256"/>
                </a:solidFill>
                <a:latin typeface="Calibri"/>
              </a:rPr>
              <a:t>SOP-UTS-001  |  22</a:t>
            </a:r>
          </a:p>
        </p:txBody>
      </p:sp>
      <p:graphicFrame>
        <p:nvGraphicFramePr>
          <p:cNvPr id="9" name="Table 8"/>
          <p:cNvGraphicFramePr>
            <a:graphicFrameLocks noGrp="1"/>
          </p:cNvGraphicFramePr>
          <p:nvPr/>
        </p:nvGraphicFramePr>
        <p:xfrm>
          <a:off x="548640" y="1188720"/>
          <a:ext cx="11094413" cy="915543"/>
        </p:xfrm>
        <a:graphic>
          <a:graphicData uri="http://schemas.openxmlformats.org/drawingml/2006/table">
            <a:tbl>
              <a:tblPr firstRow="0" bandRow="0">
                <a:tableStyleId>{5C22544A-7EE6-4342-B048-85BDC9FD1C3A}</a:tableStyleId>
              </a:tblPr>
              <a:tblGrid>
                <a:gridCol w="1442273"/>
                <a:gridCol w="1664162"/>
                <a:gridCol w="6101928"/>
                <a:gridCol w="1886050"/>
              </a:tblGrid>
              <a:tr h="457200">
                <a:tc>
                  <a:txBody>
                    <a:bodyPr wrap="square"/>
                    <a:lstStyle/>
                    <a:p>
                      <a:r>
                        <a:rPr sz="1200" b="1">
                          <a:solidFill>
                            <a:srgbClr val="FFFFFF"/>
                          </a:solidFill>
                          <a:latin typeface="Calibri"/>
                        </a:rPr>
                        <a:t>Phiên bản</a:t>
                      </a:r>
                    </a:p>
                    <a:p>
                      <a:r>
                        <a:rPr sz="1100" i="1">
                          <a:solidFill>
                            <a:srgbClr val="E9DCC6"/>
                          </a:solidFill>
                          <a:latin typeface="Calibri"/>
                        </a:rPr>
                        <a:t>Version</a:t>
                      </a:r>
                    </a:p>
                  </a:txBody>
                  <a:tcPr marL="64008" marR="64008" marT="27432" marB="27432" anchor="ctr">
                    <a:solidFill>
                      <a:srgbClr val="174349"/>
                    </a:solidFill>
                  </a:tcPr>
                </a:tc>
                <a:tc>
                  <a:txBody>
                    <a:bodyPr wrap="square"/>
                    <a:lstStyle/>
                    <a:p>
                      <a:r>
                        <a:rPr sz="1200" b="1">
                          <a:solidFill>
                            <a:srgbClr val="FFFFFF"/>
                          </a:solidFill>
                          <a:latin typeface="Calibri"/>
                        </a:rPr>
                        <a:t>Ngày</a:t>
                      </a:r>
                    </a:p>
                    <a:p>
                      <a:r>
                        <a:rPr sz="1100" i="1">
                          <a:solidFill>
                            <a:srgbClr val="E9DCC6"/>
                          </a:solidFill>
                          <a:latin typeface="Calibri"/>
                        </a:rPr>
                        <a:t>Date</a:t>
                      </a:r>
                    </a:p>
                  </a:txBody>
                  <a:tcPr marL="64008" marR="64008" marT="27432" marB="27432" anchor="ctr">
                    <a:solidFill>
                      <a:srgbClr val="174349"/>
                    </a:solidFill>
                  </a:tcPr>
                </a:tc>
                <a:tc>
                  <a:txBody>
                    <a:bodyPr wrap="square"/>
                    <a:lstStyle/>
                    <a:p>
                      <a:r>
                        <a:rPr sz="1200" b="1">
                          <a:solidFill>
                            <a:srgbClr val="FFFFFF"/>
                          </a:solidFill>
                          <a:latin typeface="Calibri"/>
                        </a:rPr>
                        <a:t>Nội dung</a:t>
                      </a:r>
                    </a:p>
                    <a:p>
                      <a:r>
                        <a:rPr sz="1100" i="1">
                          <a:solidFill>
                            <a:srgbClr val="E9DCC6"/>
                          </a:solidFill>
                          <a:latin typeface="Calibri"/>
                        </a:rPr>
                        <a:t>Description</a:t>
                      </a:r>
                    </a:p>
                  </a:txBody>
                  <a:tcPr marL="64008" marR="64008" marT="27432" marB="27432" anchor="ctr">
                    <a:solidFill>
                      <a:srgbClr val="174349"/>
                    </a:solidFill>
                  </a:tcPr>
                </a:tc>
                <a:tc>
                  <a:txBody>
                    <a:bodyPr wrap="square"/>
                    <a:lstStyle/>
                    <a:p>
                      <a:r>
                        <a:rPr sz="1200" b="1">
                          <a:solidFill>
                            <a:srgbClr val="FFFFFF"/>
                          </a:solidFill>
                          <a:latin typeface="Calibri"/>
                        </a:rPr>
                        <a:t>Người soạn</a:t>
                      </a:r>
                    </a:p>
                    <a:p>
                      <a:r>
                        <a:rPr sz="1100" i="1">
                          <a:solidFill>
                            <a:srgbClr val="E9DCC6"/>
                          </a:solidFill>
                          <a:latin typeface="Calibri"/>
                        </a:rPr>
                        <a:t>Author</a:t>
                      </a:r>
                    </a:p>
                  </a:txBody>
                  <a:tcPr marL="64008" marR="64008" marT="27432" marB="27432" anchor="ctr">
                    <a:solidFill>
                      <a:srgbClr val="174349"/>
                    </a:solidFill>
                  </a:tcPr>
                </a:tc>
              </a:tr>
              <a:tr h="458343">
                <a:tc>
                  <a:txBody>
                    <a:bodyPr wrap="square"/>
                    <a:lstStyle/>
                    <a:p>
                      <a:r>
                        <a:rPr sz="1200" b="1">
                          <a:solidFill>
                            <a:srgbClr val="2A2A2A"/>
                          </a:solidFill>
                          <a:latin typeface="Calibri"/>
                        </a:rPr>
                        <a:t>8.0</a:t>
                      </a:r>
                    </a:p>
                  </a:txBody>
                  <a:tcPr marL="64008" marR="64008" marT="27432" marB="27432" anchor="t">
                    <a:solidFill>
                      <a:srgbClr val="FFFDF8"/>
                    </a:solidFill>
                  </a:tcPr>
                </a:tc>
                <a:tc>
                  <a:txBody>
                    <a:bodyPr wrap="square"/>
                    <a:lstStyle/>
                    <a:p>
                      <a:r>
                        <a:rPr sz="1200" b="0">
                          <a:solidFill>
                            <a:srgbClr val="2A2A2A"/>
                          </a:solidFill>
                          <a:latin typeface="Calibri"/>
                        </a:rPr>
                        <a:t>2026-10-15</a:t>
                      </a:r>
                    </a:p>
                  </a:txBody>
                  <a:tcPr marL="64008" marR="64008" marT="27432" marB="27432" anchor="t">
                    <a:solidFill>
                      <a:srgbClr val="FFFDF8"/>
                    </a:solidFill>
                  </a:tcPr>
                </a:tc>
                <a:tc>
                  <a:txBody>
                    <a:bodyPr wrap="square"/>
                    <a:lstStyle/>
                    <a:p>
                      <a:r>
                        <a:rPr sz="1200" b="0">
                          <a:solidFill>
                            <a:srgbClr val="2A2A2A"/>
                          </a:solidFill>
                          <a:latin typeface="Calibri"/>
                        </a:rPr>
                        <a:t>Ban hành SOP đầu tiên cho v8 (giao diện PySide6/Qt 6.9).</a:t>
                      </a:r>
                    </a:p>
                    <a:p>
                      <a:r>
                        <a:rPr sz="1100" i="1">
                          <a:solidFill>
                            <a:srgbClr val="6E6256"/>
                          </a:solidFill>
                          <a:latin typeface="Calibri"/>
                        </a:rPr>
                        <a:t>First SOP issued for v8 (PySide6/Qt 6.9 interface).</a:t>
                      </a:r>
                    </a:p>
                  </a:txBody>
                  <a:tcPr marL="64008" marR="64008" marT="27432" marB="27432" anchor="t">
                    <a:solidFill>
                      <a:srgbClr val="FFFDF8"/>
                    </a:solidFill>
                  </a:tcPr>
                </a:tc>
                <a:tc>
                  <a:txBody>
                    <a:bodyPr wrap="square"/>
                    <a:lstStyle/>
                    <a:p>
                      <a:r>
                        <a:rPr sz="1200" b="0">
                          <a:solidFill>
                            <a:srgbClr val="2A2A2A"/>
                          </a:solidFill>
                          <a:latin typeface="Calibri"/>
                        </a:rPr>
                        <a:t>PharmApp</a:t>
                      </a:r>
                    </a:p>
                  </a:txBody>
                  <a:tcPr marL="64008" marR="64008" marT="27432" marB="27432" anchor="t">
                    <a:solidFill>
                      <a:srgbClr val="FFFD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